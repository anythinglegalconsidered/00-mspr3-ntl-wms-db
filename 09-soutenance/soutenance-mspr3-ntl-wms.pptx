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Base de données WMS — NTL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A84B"/>
                </a:solidFill>
                <a:latin typeface="Calibri"/>
              </a:rPr>
              <a:t>Conception · Haute disponibilité · Industrialisation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474720"/>
            <a:ext cx="4873752" cy="36576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Ianis · Blaise · Ojvind · Zaid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MSPR3 — EPSI Nantes —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760720" cy="1097280"/>
          </a:xfrm>
          <a:prstGeom prst="rect">
            <a:avLst/>
          </a:prstGeom>
          <a:solidFill>
            <a:srgbClr val="F5F7FD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Contexte &amp; démarche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760720" cy="1097280"/>
          </a:xfrm>
          <a:prstGeom prst="rect">
            <a:avLst/>
          </a:prstGeom>
          <a:solidFill>
            <a:srgbClr val="EEF3FB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B6CB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Modèle de données (MCD / MLD)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5760720" cy="1097280"/>
          </a:xfrm>
          <a:prstGeom prst="rect">
            <a:avLst/>
          </a:prstGeom>
          <a:solidFill>
            <a:srgbClr val="EEFBF3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6749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97479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Infrastructure technique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560320"/>
            <a:ext cx="5760720" cy="1097280"/>
          </a:xfrm>
          <a:prstGeom prst="rect">
            <a:avLst/>
          </a:prstGeom>
          <a:solidFill>
            <a:srgbClr val="EEF3FB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B6CB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97479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Haute Disponibilité &amp; PRA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760720" cy="1097280"/>
          </a:xfrm>
          <a:prstGeom prst="rect">
            <a:avLst/>
          </a:prstGeom>
          <a:solidFill>
            <a:srgbClr val="FDF5F5"/>
          </a:solidFill>
          <a:ln w="190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1A1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Sécurité &amp; Supervision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760720" cy="1097280"/>
          </a:xfrm>
          <a:prstGeom prst="rect">
            <a:avLst/>
          </a:prstGeom>
          <a:solidFill>
            <a:srgbClr val="EEFBF3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6749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69080"/>
            <a:ext cx="516635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Résultats &amp; Perspectives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Contexte &amp; Périmètre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NTL — PME logistique, Hauts-de-France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438912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Qui est NTL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PME logistique — Hauts-de-France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67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Siège social à Lille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3 entrepôts régionaux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18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WMS propriétaire sous MySQL/MariaDB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93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Équipe IT réduite, sans DBA dédié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5486400" cy="4389120"/>
          </a:xfrm>
          <a:prstGeom prst="rect">
            <a:avLst/>
          </a:prstGeom>
          <a:solidFill>
            <a:srgbClr val="EEFBF3"/>
          </a:solidFill>
          <a:ln w="127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749"/>
                </a:solidFill>
                <a:latin typeface="Calibri"/>
              </a:rPr>
              <a:t>Notre 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Concevoir la BDD du WMS (MCD → DDL)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Haute disponibilité : RTO 1h / RPO 15min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42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Plan de Reprise d'Activité (PRA)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181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Sécurité &amp; note CODIR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93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Supervision Prometheus +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• RunBook d'exploitation complet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60720"/>
            <a:ext cx="3657600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779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84B"/>
                </a:solidFill>
                <a:latin typeface="Calibri"/>
              </a:rPr>
              <a:t>76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budget équipe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5760720"/>
            <a:ext cx="3657600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5779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84B"/>
                </a:solidFill>
                <a:latin typeface="Calibri"/>
              </a:rPr>
              <a:t>6 ADR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décisions tracées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760720"/>
            <a:ext cx="3657600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5779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A84B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080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livrables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Postulat de cadrage — ADR 0003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FIL ROUGE de toute la présentation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57432" cy="822960"/>
          </a:xfrm>
          <a:prstGeom prst="rect">
            <a:avLst/>
          </a:prstGeom>
          <a:solidFill>
            <a:srgbClr val="FDF5F5"/>
          </a:solidFill>
          <a:ln w="190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⚠  Ambiguïté initiale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1A1A"/>
                </a:solidFill>
                <a:latin typeface="Calibri"/>
              </a:rPr>
              <a:t>« PME logistique » + « séparation par client » → deux lectures possibles : GROSSISTE ou PRESTATAIRE 3PL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0116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Modèle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03120"/>
            <a:ext cx="32004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NTL stocke…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103120"/>
            <a:ext cx="34747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Séparation nécessaire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103120"/>
            <a:ext cx="22860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Notre choix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2011680" cy="384048"/>
          </a:xfrm>
          <a:prstGeom prst="rect">
            <a:avLst/>
          </a:prstGeom>
          <a:solidFill>
            <a:srgbClr val="FDF5F5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45059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3PL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423160"/>
            <a:ext cx="3200400" cy="384048"/>
          </a:xfrm>
          <a:prstGeom prst="rect">
            <a:avLst/>
          </a:prstGeom>
          <a:solidFill>
            <a:srgbClr val="FDF5F5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4505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Les marchandises DES clients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423160"/>
            <a:ext cx="3474720" cy="384048"/>
          </a:xfrm>
          <a:prstGeom prst="rect">
            <a:avLst/>
          </a:prstGeom>
          <a:solidFill>
            <a:srgbClr val="FDF5F5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450591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Isolation forte — FK composites, cloisonnement par tenant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423160"/>
            <a:ext cx="2286000" cy="384048"/>
          </a:xfrm>
          <a:prstGeom prst="rect">
            <a:avLst/>
          </a:prstGeom>
          <a:solidFill>
            <a:srgbClr val="FDF5F5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45059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2011680" cy="384048"/>
          </a:xfrm>
          <a:prstGeom prst="rect">
            <a:avLst/>
          </a:prstGeom>
          <a:solidFill>
            <a:srgbClr val="EEFBF3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862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GROSSISTE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834640"/>
            <a:ext cx="3200400" cy="384048"/>
          </a:xfrm>
          <a:prstGeom prst="rect">
            <a:avLst/>
          </a:prstGeom>
          <a:solidFill>
            <a:srgbClr val="EEFBF3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286207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SES PROPRES marchandises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834640"/>
            <a:ext cx="3474720" cy="384048"/>
          </a:xfrm>
          <a:prstGeom prst="rect">
            <a:avLst/>
          </a:prstGeom>
          <a:solidFill>
            <a:srgbClr val="EEFBF3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862072"/>
            <a:ext cx="3383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Attribution suffit — mouvement.id_client + commande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2834640"/>
            <a:ext cx="2286000" cy="384048"/>
          </a:xfrm>
          <a:prstGeom prst="rect">
            <a:avLst/>
          </a:prstGeom>
          <a:solidFill>
            <a:srgbClr val="EEFBF3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8620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91840"/>
            <a:ext cx="11457432" cy="822960"/>
          </a:xfrm>
          <a:prstGeom prst="rect">
            <a:avLst/>
          </a:prstGeom>
          <a:solidFill>
            <a:srgbClr val="EEFBF3"/>
          </a:solidFill>
          <a:ln w="254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749"/>
                </a:solidFill>
                <a:latin typeface="Calibri"/>
              </a:rPr>
              <a:t>✓  Postulat retenu : NTL = GROSSISTE (ADR 0003 — 22/05/2026)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30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Stock propre NTL · attribution client par mouvement.id_client · V2 si pivot 3PL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97680"/>
            <a:ext cx="3657600" cy="118872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370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  <a:latin typeface="Calibri"/>
              </a:rPr>
              <a:t>0 trigger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28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Bug MariaDB — et lisibilité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297680"/>
            <a:ext cx="3657600" cy="118872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370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  <a:latin typeface="Calibri"/>
              </a:rPr>
              <a:t>8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828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Suppression article_stock, ajout commande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297680"/>
            <a:ext cx="3657600" cy="118872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3708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  <a:latin typeface="Calibri"/>
              </a:rPr>
              <a:t>0 FK composite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28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Pas d'isolation multi-tenant en V1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15000"/>
            <a:ext cx="11457432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42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84B"/>
                </a:solidFill>
                <a:latin typeface="Calibri"/>
              </a:rPr>
              <a:t>Toute limite V1 est un ARBITRAGE TRACÉ dans un ADR — jamais un oubli ou une incompréhension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Modèle Conceptuel de Données —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7 entités + 1 table associative · 8 associations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Entités (7)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LOCALISATION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05456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ARTICLE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72384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39312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STOCK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MOUVEMENT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73168"/>
            <a:ext cx="2286000" cy="457200"/>
          </a:xfrm>
          <a:prstGeom prst="rect">
            <a:avLst/>
          </a:prstGeom>
          <a:solidFill>
            <a:srgbClr val="F5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3A5C"/>
                </a:solidFill>
                <a:latin typeface="Calibri"/>
              </a:rPr>
              <a:t>UTILISATEUR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051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Associations (8)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371600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1426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CONTENIR_LS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4264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LOCALISATION (1,1) ── SITE (1,N)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4264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38528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19933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CONTENIR_SL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1993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STOCK (1,1) ── LOCALISATION (1,N)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1993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505456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2560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CONTENIR_AS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STOCK (1,1) ── ARTICLE (1,N)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 · 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072384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EFFECTUER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127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STOCK (0,N) ── MOUVEMENT (1,1)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3127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 · V2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639312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694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REALISER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6941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UTILISATEUR (0,N) ── MOUVEMENT (1,1)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6941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206240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3240" y="42611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ECHANGER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611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UTILISATEUR (1,N) ── CLIENT (1,1)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4261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4773168"/>
            <a:ext cx="8869680" cy="457200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482803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CONCERNE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48280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MOUVEMENT (0,1) ── CLIENT (0,N)  [nullable]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48280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1-N · V2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5340096"/>
            <a:ext cx="8869680" cy="457200"/>
          </a:xfrm>
          <a:prstGeom prst="rect">
            <a:avLst/>
          </a:prstGeom>
          <a:solidFill>
            <a:srgbClr val="FDF8EA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394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COMMANDE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3949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CLIENT (0,N) ── ARTICLE (0,N)  + qty + date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53949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N-N · table asso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035040"/>
            <a:ext cx="11457432" cy="502920"/>
          </a:xfrm>
          <a:prstGeom prst="rect">
            <a:avLst/>
          </a:prstGeom>
          <a:solidFill>
            <a:srgbClr val="FDF8F0"/>
          </a:solidFill>
          <a:ln w="1270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3D00"/>
                </a:solidFill>
                <a:latin typeface="Calibri"/>
              </a:rPr>
              <a:t>★ = corrections V2 appliquées (5 fixes vs V1) · Source de vérité : wms-mcd.png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Modèle Logique &amp; Contraintes — 8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InnoDB · utf8mb4 · ON DELETE RESTRICT partout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822960" cy="228600"/>
          </a:xfrm>
          <a:prstGeom prst="rect">
            <a:avLst/>
          </a:prstGeom>
          <a:solidFill>
            <a:srgbClr val="FD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8A84B"/>
                </a:solidFill>
                <a:latin typeface="Calibri"/>
              </a:rPr>
              <a:t>PK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005840"/>
            <a:ext cx="822960" cy="228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B6CB0"/>
                </a:solidFill>
                <a:latin typeface="Calibri"/>
              </a:rPr>
              <a:t>FK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05840"/>
            <a:ext cx="822960" cy="228600"/>
          </a:xfrm>
          <a:prstGeom prst="rect">
            <a:avLst/>
          </a:prstGeom>
          <a:solidFill>
            <a:srgbClr val="F3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B46C1"/>
                </a:solidFill>
                <a:latin typeface="Calibri"/>
              </a:rPr>
              <a:t>UQ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05840"/>
            <a:ext cx="822960" cy="228600"/>
          </a:xfrm>
          <a:prstGeom prst="rect">
            <a:avLst/>
          </a:prstGeom>
          <a:solidFill>
            <a:srgbClr val="EEF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76749"/>
                </a:solidFill>
                <a:latin typeface="Calibri"/>
              </a:rPr>
              <a:t>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822960" cy="2286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B6B6B"/>
                </a:solidFill>
                <a:latin typeface="Calibri"/>
              </a:rPr>
              <a:t>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875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Code couleur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35331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15636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id_site 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9694" y="15636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1450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7236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libelle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9694" y="17236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VARCHAR(100) · NOT 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874519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1883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adresse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9694" y="1883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VARCHAR(255) · NOT NULL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135331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localisation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155448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15636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id_localisation 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9782" y="15636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1714500"/>
            <a:ext cx="2834640" cy="160020"/>
          </a:xfrm>
          <a:prstGeom prst="rect">
            <a:avLst/>
          </a:prstGeom>
          <a:solidFill>
            <a:srgbClr val="F3EE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424" y="17236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46C1"/>
                </a:solidFill>
                <a:latin typeface="Calibri"/>
              </a:rPr>
              <a:t>code UQ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9782" y="17236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VARCHAR(30) · NOT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1874519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92424" y="1883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zone / allee / etage / 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9782" y="1883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 · NOT NULL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55848" y="2034539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2424" y="2043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id_site FK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9782" y="2043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site · RESTRICT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45936" y="135331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utilisateur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155448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5636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id_utilisateur PK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49870" y="15636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171450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7236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49870" y="17236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VARCHAR(100) · NOT NULL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5936" y="1874519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1883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role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49870" y="1883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VARCHAR(30) · NOT NULL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36024" y="135331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client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36024" y="155448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15636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id_client 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39958" y="15636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36024" y="171450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17236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39958" y="17236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VARCHAR(100) · NOT NULL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36024" y="1874519"/>
            <a:ext cx="2834640" cy="160020"/>
          </a:xfrm>
          <a:prstGeom prst="rect">
            <a:avLst/>
          </a:prstGeom>
          <a:solidFill>
            <a:srgbClr val="F3EE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2600" y="1883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46C1"/>
                </a:solidFill>
                <a:latin typeface="Calibri"/>
              </a:rPr>
              <a:t>siret UQ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39958" y="1883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CHAR(14) · NOT NULL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36024" y="2034539"/>
            <a:ext cx="2834640" cy="160020"/>
          </a:xfrm>
          <a:prstGeom prst="rect">
            <a:avLst/>
          </a:prstGeom>
          <a:solidFill>
            <a:srgbClr val="FAFAF7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2043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telephone NULL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39958" y="2043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VARCHAR(20)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36024" y="219456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22037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39958" y="22037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VARCHAR(20) · DEFAULT 'actif'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36024" y="2354580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72600" y="23637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id_utilisateur FK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39958" y="23637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utilisateur · RESTRICT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5935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article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16052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6" y="4169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id_article PK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69694" y="4169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32054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2336" y="4329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69694" y="4329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VARCHAR(150) · NOT NULL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480559"/>
            <a:ext cx="2834640" cy="160020"/>
          </a:xfrm>
          <a:prstGeom prst="rect">
            <a:avLst/>
          </a:prstGeom>
          <a:solidFill>
            <a:srgbClr val="EEFBF3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" y="44897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poids 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69694" y="44897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DECIMAL(10,3) · &gt; 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640579"/>
            <a:ext cx="2834640" cy="160020"/>
          </a:xfrm>
          <a:prstGeom prst="rect">
            <a:avLst/>
          </a:prstGeom>
          <a:solidFill>
            <a:srgbClr val="FAFAF7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2336" y="46497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6B6B"/>
                </a:solidFill>
                <a:latin typeface="Calibri"/>
              </a:rPr>
              <a:t>fournisseur NULL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69694" y="46497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VARCHAR(100)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80060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2336" y="48097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69694" y="48097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VARCHAR(50) · NOT NULL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55848" y="395935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stock 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55848" y="416052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92424" y="4169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id_stock PK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9782" y="4169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55848" y="432054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92424" y="4329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quantite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59782" y="4329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NOT NULL · DEFAULT 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55848" y="4480559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92424" y="44897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id_article FK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59782" y="44897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article · NOT NULL · RESTRICT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55848" y="4640579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92424" y="46497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id_localisation FK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59782" y="46497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localisation · RESTRICT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55848" y="4800600"/>
            <a:ext cx="2834640" cy="160020"/>
          </a:xfrm>
          <a:prstGeom prst="rect">
            <a:avLst/>
          </a:prstGeom>
          <a:solidFill>
            <a:srgbClr val="F3EE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92424" y="48097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46C1"/>
                </a:solidFill>
                <a:latin typeface="Calibri"/>
              </a:rPr>
              <a:t>UQ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59782" y="48097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UNIQUE(id_article, id_localisation)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45936" y="395935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mouvement 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45936" y="416052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82512" y="4169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id_mouvement PK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49870" y="4169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45936" y="4320540"/>
            <a:ext cx="2834640" cy="160020"/>
          </a:xfrm>
          <a:prstGeom prst="rect">
            <a:avLst/>
          </a:prstGeom>
          <a:solidFill>
            <a:srgbClr val="EEFBF3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82512" y="4329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type CK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49870" y="4329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IN('entree','sortie','ajust.','transfer')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45936" y="4480559"/>
            <a:ext cx="2834640" cy="160020"/>
          </a:xfrm>
          <a:prstGeom prst="rect">
            <a:avLst/>
          </a:prstGeom>
          <a:solidFill>
            <a:srgbClr val="F3EE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82512" y="44897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46C1"/>
                </a:solidFill>
                <a:latin typeface="Calibri"/>
              </a:rPr>
              <a:t>reference UQ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649870" y="44897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VARCHAR(50) · NOT NULL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45936" y="4640579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82512" y="46497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date / heure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49870" y="46497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DATE + TIME · NOT NULL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45936" y="4800600"/>
            <a:ext cx="2834640" cy="160020"/>
          </a:xfrm>
          <a:prstGeom prst="rect">
            <a:avLst/>
          </a:prstGeom>
          <a:solidFill>
            <a:srgbClr val="EEFBF3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82512" y="48097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quantite CK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49870" y="48097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NOT NULL · &gt; 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45936" y="4960620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82512" y="49697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id_stock FK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49870" y="49697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stock · NOT NULL · RESTRICT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345936" y="5120640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82512" y="51297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id_utilisateur FK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49870" y="51297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utilisateur · RESTRICT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45936" y="5280659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82512" y="52898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id_client FK NULL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49870" y="52898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client · NULL · RESTRICT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336024" y="3959352"/>
            <a:ext cx="2834640" cy="2011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1">
                <a:solidFill>
                  <a:srgbClr val="C8A84B"/>
                </a:solidFill>
                <a:latin typeface="Calibri"/>
              </a:rPr>
              <a:t>commande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336024" y="4160520"/>
            <a:ext cx="2834640" cy="160020"/>
          </a:xfrm>
          <a:prstGeom prst="rect">
            <a:avLst/>
          </a:prstGeom>
          <a:solidFill>
            <a:srgbClr val="FDF8EA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72600" y="416966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A5A00"/>
                </a:solidFill>
                <a:latin typeface="Calibri"/>
              </a:rPr>
              <a:t>id_commande PK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639958" y="416966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AUTO_INCREMENT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336024" y="4320540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72600" y="432968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id_client FK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639958" y="432968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client · NOT NULL · RESTRICT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336024" y="4480559"/>
            <a:ext cx="2834640" cy="160020"/>
          </a:xfrm>
          <a:prstGeom prst="rect">
            <a:avLst/>
          </a:prstGeom>
          <a:solidFill>
            <a:srgbClr val="EEF3FB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372600" y="448970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B6CB0"/>
                </a:solidFill>
                <a:latin typeface="Calibri"/>
              </a:rPr>
              <a:t>id_article FK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39958" y="448970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→ article · NOT NULL · RESTRICT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36024" y="4640579"/>
            <a:ext cx="2834640" cy="160020"/>
          </a:xfrm>
          <a:prstGeom prst="rect">
            <a:avLst/>
          </a:prstGeom>
          <a:solidFill>
            <a:srgbClr val="EEFBF3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372600" y="464972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76749"/>
                </a:solidFill>
                <a:latin typeface="Calibri"/>
              </a:rPr>
              <a:t>quantite_cmd CK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639958" y="464972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INT UNSIGNED · NOT NULL · &gt; 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336024" y="4800600"/>
            <a:ext cx="2834640" cy="160020"/>
          </a:xfrm>
          <a:prstGeom prst="rect">
            <a:avLst/>
          </a:prstGeom>
          <a:solidFill>
            <a:srgbClr val="FFFFFF"/>
          </a:solidFill>
          <a:ln w="3175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372600" y="4809744"/>
            <a:ext cx="1247241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date_commande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639958" y="4809744"/>
            <a:ext cx="1530705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6B6B"/>
                </a:solidFill>
                <a:latin typeface="Calibri"/>
              </a:rPr>
              <a:t>DATETIME · DEFAULT NOW()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Infrastructure technique — 3 serveurs MariaDB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OS · Versions · Rôles · Comptes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749039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6984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BDD1 —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Production · toutes les écritures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73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67335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Ubuntu Server 22.04 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9968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057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SGBD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057400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MariaDB 11.4 LTS (→ 2029)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14016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441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441448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2–4 vCPU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98064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825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825496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8–16 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82112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209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Réseau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209544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1 Gbit/s · Siège Lille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593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Sauvegarde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59359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mariabackup 02h00 → NAS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1051560"/>
            <a:ext cx="3749039" cy="320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106984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BDD2 — SLAVE 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137160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Réplication locale · haute dispo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1645920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1673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1031" y="167335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Ubuntu Server 22.04 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3672" y="2029968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2057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SGBD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1" y="2057400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MariaDB 11.4 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2414016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6824" y="2441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CPU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1" y="2441448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2–4 vCPU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672" y="2798064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2825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71031" y="2825496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8–16 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3672" y="3182112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06824" y="3209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Réseau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1031" y="3209544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1 Gbit/s · LAN BDD1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3566160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6824" y="3593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RTO si BDD1 down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71031" y="359359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5–10 min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01583" y="1051560"/>
            <a:ext cx="3749039" cy="32004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3" y="106984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BDD3 — SLAVE PRA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3" y="137160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Réplication distante · PRA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3" y="1645920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167335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38944" y="167335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Ubuntu Server 22.04 LTS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1583" y="2029968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74736" y="2057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SGBD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8944" y="2057400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MariaDB 11.4 LTS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01583" y="2414016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74736" y="24414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CPU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38944" y="2441448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2–4 vCPU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1583" y="2798064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28254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38944" y="2825496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8–16 Go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3" y="3182112"/>
            <a:ext cx="3749039" cy="347472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4736" y="3209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Réseau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38944" y="3209544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1 Gbit/s · Site distant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01583" y="3566160"/>
            <a:ext cx="37490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4736" y="3593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RTO si perte site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38944" y="3593592"/>
            <a:ext cx="19202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Calibri"/>
              </a:rPr>
              <a:t>20–40 min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Composants transverses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HAProxy 2.x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3172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40487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Prometheus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7083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Grafana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6364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3679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mysqld_exporter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0275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node_exporter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95560" y="4389120"/>
            <a:ext cx="1828800" cy="347472"/>
          </a:xfrm>
          <a:prstGeom prst="rect">
            <a:avLst/>
          </a:prstGeom>
          <a:solidFill>
            <a:srgbClr val="F5F7FD"/>
          </a:solidFill>
          <a:ln w="63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268712" y="44165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mariabackup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4919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Paramètres MariaDB clés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5230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innodb_buffer_pool_size = 60% RAM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60" y="52303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sync_binlog =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5577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slow_query_log = ON (seuil 200ms)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0" y="55778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Binlogs retenus : 48h (PITR + RPO 15min)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Topologie Haute Disponibilité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Réplication asynchrone · binlogs · HAProxy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2743200" cy="640080"/>
          </a:xfrm>
          <a:prstGeom prst="rect">
            <a:avLst/>
          </a:prstGeom>
          <a:solidFill>
            <a:srgbClr val="F5F7FD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A5C"/>
                </a:solidFill>
                <a:latin typeface="Calibri"/>
              </a:rPr>
              <a:t>WMS-APP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2743200" cy="640080"/>
          </a:xfrm>
          <a:prstGeom prst="rect">
            <a:avLst/>
          </a:prstGeom>
          <a:solidFill>
            <a:srgbClr val="FDF8F0"/>
          </a:solidFill>
          <a:ln w="190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3D00"/>
                </a:solidFill>
                <a:latin typeface="Calibri"/>
              </a:rPr>
              <a:t>HAProxy 2.x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743200"/>
            <a:ext cx="2286000" cy="914400"/>
          </a:xfrm>
          <a:prstGeom prst="rect">
            <a:avLst/>
          </a:prstGeom>
          <a:solidFill>
            <a:srgbClr val="1A3A5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BDD1
MASTER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286000" cy="914400"/>
          </a:xfrm>
          <a:prstGeom prst="rect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BDD2
SLAVE 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4572000"/>
            <a:ext cx="2286000" cy="914400"/>
          </a:xfrm>
          <a:prstGeom prst="rect">
            <a:avLst/>
          </a:prstGeom>
          <a:solidFill>
            <a:srgbClr val="27674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663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BDD3
SLAVE PRA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188720"/>
            <a:ext cx="2468880" cy="1828800"/>
          </a:xfrm>
          <a:prstGeom prst="rect">
            <a:avLst/>
          </a:prstGeom>
          <a:solidFill>
            <a:srgbClr val="FAF9F7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Flux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1554480"/>
            <a:ext cx="548640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  <a:latin typeface="Calibri"/>
              </a:rPr>
              <a:t>Écritures applicatif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828800"/>
            <a:ext cx="54864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755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6CB0"/>
                </a:solidFill>
                <a:latin typeface="Calibri"/>
              </a:rPr>
              <a:t>Réplication async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103120"/>
            <a:ext cx="548640" cy="36576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029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6749"/>
                </a:solidFill>
                <a:latin typeface="Calibri"/>
              </a:rPr>
              <a:t>Réplication PRA (distant)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200400"/>
            <a:ext cx="2468880" cy="2743200"/>
          </a:xfrm>
          <a:prstGeom prst="rect">
            <a:avLst/>
          </a:prstGeom>
          <a:solidFill>
            <a:srgbClr val="FAF9F7"/>
          </a:solidFill>
          <a:ln w="635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Comptes MariaDB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566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appuser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35661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DML · limité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005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replicator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40050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REPLICATION SLAVE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44398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dba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444398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ALL + SSH + MFA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8828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backup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4882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SELECT + 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3218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  <a:latin typeface="Calibri"/>
              </a:rPr>
              <a:t>root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53218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localhost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42432"/>
            <a:ext cx="8686800" cy="502920"/>
          </a:xfrm>
          <a:prstGeom prst="rect">
            <a:avLst/>
          </a:prstGeom>
          <a:solidFill>
            <a:srgbClr val="EEFBF3"/>
          </a:solidFill>
          <a:ln w="1270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788152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Avant bascule HA — vérifier : Slave_IO_Running=Yes · Slave_SQL_Running=Yes · Seconds_Behind_Master=0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 de Reprise d'Activité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RTO cible : 1h · RPO cible : 15min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Scénarios de bascule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1148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43891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371600"/>
            <a:ext cx="18288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RTO estimé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4114800" cy="475488"/>
          </a:xfrm>
          <a:prstGeom prst="rect">
            <a:avLst/>
          </a:prstGeom>
          <a:solidFill>
            <a:srgbClr val="EEFBF3"/>
          </a:solidFill>
          <a:ln w="63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764792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Panne service MariaDB BDD1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691640"/>
            <a:ext cx="4389120" cy="475488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764792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Bascule HAProxy → BDD2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691640"/>
            <a:ext cx="1828800" cy="475488"/>
          </a:xfrm>
          <a:prstGeom prst="rect">
            <a:avLst/>
          </a:prstGeom>
          <a:solidFill>
            <a:srgbClr val="EEFBF3"/>
          </a:solidFill>
          <a:ln w="63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7647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5–10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21992"/>
            <a:ext cx="4114800" cy="475488"/>
          </a:xfrm>
          <a:prstGeom prst="rect">
            <a:avLst/>
          </a:prstGeom>
          <a:solidFill>
            <a:srgbClr val="EEFBF3"/>
          </a:solidFill>
          <a:ln w="63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295144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Perte VM BDD1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221992"/>
            <a:ext cx="4389120" cy="475488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2295144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Promotion BDD2 en master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221992"/>
            <a:ext cx="1828800" cy="475488"/>
          </a:xfrm>
          <a:prstGeom prst="rect">
            <a:avLst/>
          </a:prstGeom>
          <a:solidFill>
            <a:srgbClr val="EEFBF3"/>
          </a:solidFill>
          <a:ln w="63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95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5–10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52344"/>
            <a:ext cx="4114800" cy="475488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825496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D00"/>
                </a:solidFill>
                <a:latin typeface="Calibri"/>
              </a:rPr>
              <a:t>Perte site Lille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752344"/>
            <a:ext cx="4389120" cy="475488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2825496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Bascule BDD3 PRA (site distant)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752344"/>
            <a:ext cx="1828800" cy="475488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2825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20–40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82696"/>
            <a:ext cx="4114800" cy="475488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355848"/>
            <a:ext cx="3968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Corruption logique BDD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282696"/>
            <a:ext cx="4389120" cy="475488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3355848"/>
            <a:ext cx="4242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Restauration dump + relecture binlogs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282696"/>
            <a:ext cx="1828800" cy="475488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33558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selon volume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9776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Plan de sauvegardes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15968"/>
            <a:ext cx="5669280" cy="411480"/>
          </a:xfrm>
          <a:prstGeom prst="rect">
            <a:avLst/>
          </a:prstGeom>
          <a:solidFill>
            <a:srgbClr val="EEF3FB"/>
          </a:solidFill>
          <a:ln w="63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361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  <a:latin typeface="Calibri"/>
              </a:rPr>
              <a:t>Complète quotidienne 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361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mariabackup · 02h00 · stockée sur NAS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315968"/>
            <a:ext cx="5669280" cy="411480"/>
          </a:xfrm>
          <a:prstGeom prst="rect">
            <a:avLst/>
          </a:prstGeom>
          <a:solidFill>
            <a:srgbClr val="EEF3FB"/>
          </a:solidFill>
          <a:ln w="63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361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  <a:latin typeface="Calibri"/>
              </a:rPr>
              <a:t>Binlogs 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361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Conservés 48h · PITR · RPO 15min garanti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791456"/>
            <a:ext cx="5669280" cy="411480"/>
          </a:xfrm>
          <a:prstGeom prst="rect">
            <a:avLst/>
          </a:prstGeom>
          <a:solidFill>
            <a:srgbClr val="EEF3FB"/>
          </a:solidFill>
          <a:ln w="63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8371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  <a:latin typeface="Calibri"/>
              </a:rPr>
              <a:t>Configuration 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4837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/etc/mysql/ + HAProxy · versionné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791456"/>
            <a:ext cx="5669280" cy="411480"/>
          </a:xfrm>
          <a:prstGeom prst="rect">
            <a:avLst/>
          </a:prstGeom>
          <a:solidFill>
            <a:srgbClr val="EEF3FB"/>
          </a:solidFill>
          <a:ln w="63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8371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6CB0"/>
                </a:solidFill>
                <a:latin typeface="Calibri"/>
              </a:rPr>
              <a:t>Rétention 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8371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14 jours local · externalisation site distant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Tests planifiés : bascule HA trimestrielle · bascule PRA semestrielle · restauration mensuelle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Sécurité — Note de Direction CODIR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5 risques · 3 horizons d'action · RGPD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36576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51560"/>
            <a:ext cx="868680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Risque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051560"/>
            <a:ext cx="1645920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Gravité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44168"/>
            <a:ext cx="36576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40817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44168"/>
            <a:ext cx="8686800" cy="420624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3560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Arrêt prolongé de la base (4 sites bloqués)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344168"/>
            <a:ext cx="164592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435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CRITIQUE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19656"/>
            <a:ext cx="36576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1883664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819656"/>
            <a:ext cx="8686800" cy="420624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1911095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Vol d'un accès applicatif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819656"/>
            <a:ext cx="164592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911095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CRITIQUE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95144"/>
            <a:ext cx="36576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359151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1A1A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295144"/>
            <a:ext cx="8686800" cy="420624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386584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Ransomware + sauvegardes compromises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295144"/>
            <a:ext cx="1645920" cy="420624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23865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CRITIQUE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70632"/>
            <a:ext cx="365760" cy="420624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83464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D00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770632"/>
            <a:ext cx="8686800" cy="420624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86207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Exfiltration des données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770632"/>
            <a:ext cx="1645920" cy="420624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46920" y="2862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ÉLEVÉE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46120"/>
            <a:ext cx="365760" cy="420624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310127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3D00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246120"/>
            <a:ext cx="8686800" cy="420624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3375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Perte de traçabilité réglementaire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0" y="3246120"/>
            <a:ext cx="1645920" cy="420624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3337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ÉLEVÉE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Plan d'action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97680"/>
            <a:ext cx="11457432" cy="457200"/>
          </a:xfrm>
          <a:prstGeom prst="rect">
            <a:avLst/>
          </a:prstGeom>
          <a:solidFill>
            <a:srgbClr val="FDF5F5"/>
          </a:solidFill>
          <a:ln w="127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343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P1 — 6 semaines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343400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Sauvegardes 3-2-1 · restauration testée · cluster HA · MFA admin · coffre secrets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28032"/>
            <a:ext cx="11457432" cy="457200"/>
          </a:xfrm>
          <a:prstGeom prst="rect">
            <a:avLst/>
          </a:prstGeom>
          <a:solidFill>
            <a:srgbClr val="FDF8F0"/>
          </a:solidFill>
          <a:ln w="1270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873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D00"/>
                </a:solidFill>
                <a:latin typeface="Calibri"/>
              </a:rPr>
              <a:t>P2 — 3 mois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873752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Moindre privilège · audit log inviolable 12 mois · runbook incident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358384"/>
            <a:ext cx="11457432" cy="457200"/>
          </a:xfrm>
          <a:prstGeom prst="rect">
            <a:avLst/>
          </a:prstGeom>
          <a:solidFill>
            <a:srgbClr val="FAF9F7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404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P3 — 6 mois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40410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Exercice de crise · assurance cyber · sensibilisation équipes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989320"/>
            <a:ext cx="11457432" cy="502920"/>
          </a:xfrm>
          <a:prstGeom prst="rect">
            <a:avLst/>
          </a:prstGeom>
          <a:solidFill>
            <a:srgbClr val="EEF3FB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6CB0"/>
                </a:solidFill>
                <a:latin typeface="Calibri"/>
              </a:rPr>
              <a:t>RGPD : notification CNIL sous 72h en cas de fuite · BIA non chiffrée — assumée, impacts qualitatifs documentés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Supervision — Prometheus +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mysqld_exporter · node_exporter · Slow Query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194560" cy="45720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  <a:latin typeface="Calibri"/>
              </a:rPr>
              <a:t>Prometheus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005840"/>
            <a:ext cx="2194560" cy="45720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078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  <a:latin typeface="Calibri"/>
              </a:rPr>
              <a:t>Grafana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005840"/>
            <a:ext cx="2194560" cy="45720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78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  <a:latin typeface="Calibri"/>
              </a:rPr>
              <a:t>mysqld_exporter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1005840"/>
            <a:ext cx="2194560" cy="45720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078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  <a:latin typeface="Calibri"/>
              </a:rPr>
              <a:t>node_exporter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1005840"/>
            <a:ext cx="2194560" cy="45720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0789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A5C"/>
                </a:solidFill>
                <a:latin typeface="Calibri"/>
              </a:rPr>
              <a:t>Slow Query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5 indicateurs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65960"/>
            <a:ext cx="32004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1965960"/>
            <a:ext cx="23774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Normal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965960"/>
            <a:ext cx="23774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Alerte 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965960"/>
            <a:ext cx="23774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Critique 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3200400" cy="457200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7744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Latence 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2286000"/>
            <a:ext cx="2377440" cy="457200"/>
          </a:xfrm>
          <a:prstGeom prst="rect">
            <a:avLst/>
          </a:prstGeom>
          <a:solidFill>
            <a:srgbClr val="EEFBF3"/>
          </a:solidFill>
          <a:ln w="381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37744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&lt; 50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286000"/>
            <a:ext cx="2377440" cy="457200"/>
          </a:xfrm>
          <a:prstGeom prst="rect">
            <a:avLst/>
          </a:prstGeom>
          <a:solidFill>
            <a:srgbClr val="FDF8F0"/>
          </a:solidFill>
          <a:ln w="381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37744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&gt; 150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2286000"/>
            <a:ext cx="2377440" cy="457200"/>
          </a:xfrm>
          <a:prstGeom prst="rect">
            <a:avLst/>
          </a:prstGeom>
          <a:solidFill>
            <a:srgbClr val="FDF5F5"/>
          </a:solidFill>
          <a:ln w="381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377440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&gt; 300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816352"/>
            <a:ext cx="3200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0779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Connexions actives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2816352"/>
            <a:ext cx="2377440" cy="457200"/>
          </a:xfrm>
          <a:prstGeom prst="rect">
            <a:avLst/>
          </a:prstGeom>
          <a:solidFill>
            <a:srgbClr val="EEFBF3"/>
          </a:solidFill>
          <a:ln w="381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90779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&lt; 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816352"/>
            <a:ext cx="2377440" cy="457200"/>
          </a:xfrm>
          <a:prstGeom prst="rect">
            <a:avLst/>
          </a:prstGeom>
          <a:solidFill>
            <a:srgbClr val="FDF8F0"/>
          </a:solidFill>
          <a:ln w="381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290779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&gt; 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2816352"/>
            <a:ext cx="2377440" cy="457200"/>
          </a:xfrm>
          <a:prstGeom prst="rect">
            <a:avLst/>
          </a:prstGeom>
          <a:solidFill>
            <a:srgbClr val="FDF5F5"/>
          </a:solidFill>
          <a:ln w="381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90779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&gt; 150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346704"/>
            <a:ext cx="3200400" cy="457200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43814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Réplication (retard)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3346704"/>
            <a:ext cx="2377440" cy="457200"/>
          </a:xfrm>
          <a:prstGeom prst="rect">
            <a:avLst/>
          </a:prstGeom>
          <a:solidFill>
            <a:srgbClr val="EEFBF3"/>
          </a:solidFill>
          <a:ln w="381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11880" y="34381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0 – 5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346704"/>
            <a:ext cx="2377440" cy="457200"/>
          </a:xfrm>
          <a:prstGeom prst="rect">
            <a:avLst/>
          </a:prstGeom>
          <a:solidFill>
            <a:srgbClr val="FDF8F0"/>
          </a:solidFill>
          <a:ln w="381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34381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&gt; 15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58200" y="3346704"/>
            <a:ext cx="2377440" cy="457200"/>
          </a:xfrm>
          <a:prstGeom prst="rect">
            <a:avLst/>
          </a:prstGeom>
          <a:solidFill>
            <a:srgbClr val="FDF5F5"/>
          </a:solidFill>
          <a:ln w="381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3438144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&gt; 30 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77056"/>
            <a:ext cx="320040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9684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Espace disque libre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11880" y="3877056"/>
            <a:ext cx="2377440" cy="457200"/>
          </a:xfrm>
          <a:prstGeom prst="rect">
            <a:avLst/>
          </a:prstGeom>
          <a:solidFill>
            <a:srgbClr val="EEFBF3"/>
          </a:solidFill>
          <a:ln w="381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396849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&gt; 20 %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877056"/>
            <a:ext cx="2377440" cy="457200"/>
          </a:xfrm>
          <a:prstGeom prst="rect">
            <a:avLst/>
          </a:prstGeom>
          <a:solidFill>
            <a:srgbClr val="FDF8F0"/>
          </a:solidFill>
          <a:ln w="381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396849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&lt; 15 %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3877056"/>
            <a:ext cx="2377440" cy="457200"/>
          </a:xfrm>
          <a:prstGeom prst="rect">
            <a:avLst/>
          </a:prstGeom>
          <a:solidFill>
            <a:srgbClr val="FDF5F5"/>
          </a:solidFill>
          <a:ln w="381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8200" y="396849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&lt; 10 %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407408"/>
            <a:ext cx="3200400" cy="457200"/>
          </a:xfrm>
          <a:prstGeom prst="rect">
            <a:avLst/>
          </a:prstGeom>
          <a:solidFill>
            <a:srgbClr val="FAF9F7"/>
          </a:solidFill>
          <a:ln w="381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988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Succès sauvegardes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11880" y="4407408"/>
            <a:ext cx="2377440" cy="457200"/>
          </a:xfrm>
          <a:prstGeom prst="rect">
            <a:avLst/>
          </a:prstGeom>
          <a:solidFill>
            <a:srgbClr val="EEFBF3"/>
          </a:solidFill>
          <a:ln w="381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4988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6749"/>
                </a:solidFill>
                <a:latin typeface="Calibri"/>
              </a:rPr>
              <a:t>100 %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4407408"/>
            <a:ext cx="2377440" cy="457200"/>
          </a:xfrm>
          <a:prstGeom prst="rect">
            <a:avLst/>
          </a:prstGeom>
          <a:solidFill>
            <a:srgbClr val="FDF8F0"/>
          </a:solidFill>
          <a:ln w="381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0" y="44988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3D00"/>
                </a:solidFill>
                <a:latin typeface="Calibri"/>
              </a:rPr>
              <a:t>1 échec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58200" y="4407408"/>
            <a:ext cx="2377440" cy="457200"/>
          </a:xfrm>
          <a:prstGeom prst="rect">
            <a:avLst/>
          </a:prstGeom>
          <a:solidFill>
            <a:srgbClr val="FDF5F5"/>
          </a:solidFill>
          <a:ln w="381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58200" y="449884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1A1A"/>
                </a:solidFill>
                <a:latin typeface="Calibri"/>
              </a:rPr>
              <a:t>&gt; 1 échec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010912"/>
            <a:ext cx="11457432" cy="475488"/>
          </a:xfrm>
          <a:prstGeom prst="rect">
            <a:avLst/>
          </a:prstGeom>
          <a:solidFill>
            <a:srgbClr val="FDF8F0"/>
          </a:solidFill>
          <a:ln w="1270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056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3D00"/>
                </a:solidFill>
                <a:latin typeface="Calibri"/>
              </a:rPr>
              <a:t>Réplication &gt; 30s → RPO 15min menacé   ·   Disque &lt; 10% → arrêt MariaDB possible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Exploitation — RunBook &amp;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Procédures · Escalade N1→N4 · 5 sources de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669280" cy="5120640"/>
          </a:xfrm>
          <a:prstGeom prst="rect">
            <a:avLst/>
          </a:prstGeom>
          <a:solidFill>
            <a:srgbClr val="F5F7FD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  <a:latin typeface="Calibri"/>
              </a:rPr>
              <a:t>RunBook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Procédures Start / Stop MariaDB + HAProxy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Health checks BDD1/BDD2/BDD3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Checklist quotidienne + hebdomadaire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Gestion incidents (détection → résolution)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• KPI exploitation : latence, dispo, backups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58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Matrice d'escalade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234440" cy="502920"/>
          </a:xfrm>
          <a:prstGeom prst="rect">
            <a:avLst/>
          </a:prstGeom>
          <a:solidFill>
            <a:srgbClr val="EEFBF3"/>
          </a:solidFill>
          <a:ln w="63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187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76749"/>
                </a:solidFill>
                <a:latin typeface="Calibri"/>
              </a:rPr>
              <a:t>N1 — Opérateur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76749"/>
                </a:solidFill>
                <a:latin typeface="Calibri"/>
              </a:rPr>
              <a:t>15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160520"/>
            <a:ext cx="1234440" cy="502920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187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A3D00"/>
                </a:solidFill>
                <a:latin typeface="Calibri"/>
              </a:rPr>
              <a:t>N2 — 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165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3D00"/>
                </a:solidFill>
                <a:latin typeface="Calibri"/>
              </a:rPr>
              <a:t>30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160520"/>
            <a:ext cx="1234440" cy="502920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187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A1A"/>
                </a:solidFill>
                <a:latin typeface="Calibri"/>
              </a:rPr>
              <a:t>N3 — Resp.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4165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1A1A"/>
                </a:solidFill>
                <a:latin typeface="Calibri"/>
              </a:rPr>
              <a:t>1h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160520"/>
            <a:ext cx="1234440" cy="502920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187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1A1A"/>
                </a:solidFill>
                <a:latin typeface="Calibri"/>
              </a:rPr>
              <a:t>N4 — DBA externe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16552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1A1A"/>
                </a:solidFill>
                <a:latin typeface="Calibri"/>
              </a:rPr>
              <a:t>2h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051560"/>
            <a:ext cx="5486400" cy="5120640"/>
          </a:xfrm>
          <a:prstGeom prst="rect">
            <a:avLst/>
          </a:prstGeom>
          <a:solidFill>
            <a:srgbClr val="FAF9F7"/>
          </a:solidFill>
          <a:ln w="12700">
            <a:solidFill>
              <a:srgbClr val="D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Calibri"/>
              </a:rPr>
              <a:t>5 sources de 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508760"/>
            <a:ext cx="5212080" cy="685800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5544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error.log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InnoDB corruption · crash recovery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313432"/>
            <a:ext cx="5212080" cy="685800"/>
          </a:xfrm>
          <a:prstGeom prst="rect">
            <a:avLst/>
          </a:prstGeom>
          <a:solidFill>
            <a:srgbClr val="FDF8F0"/>
          </a:solidFill>
          <a:ln w="6350">
            <a:solidFill>
              <a:srgbClr val="7A3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35915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3D00"/>
                </a:solidFill>
                <a:latin typeface="Calibri"/>
              </a:rPr>
              <a:t>slow.log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151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Requêtes &gt; 200ms · tuning 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118104"/>
            <a:ext cx="5212080" cy="685800"/>
          </a:xfrm>
          <a:prstGeom prst="rect">
            <a:avLst/>
          </a:prstGeom>
          <a:solidFill>
            <a:srgbClr val="EEF3FB"/>
          </a:solidFill>
          <a:ln w="63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163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  <a:latin typeface="Calibri"/>
              </a:rPr>
              <a:t>Binlogs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4198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PITR · réplication · audit trail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22776"/>
            <a:ext cx="5212080" cy="685800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9684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HAProxy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245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Backend DOWN · health check fail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727448"/>
            <a:ext cx="5212080" cy="685800"/>
          </a:xfrm>
          <a:prstGeom prst="rect">
            <a:avLst/>
          </a:prstGeom>
          <a:solidFill>
            <a:srgbClr val="FDF5F5"/>
          </a:solidFill>
          <a:ln w="635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7731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1A1A"/>
                </a:solidFill>
                <a:latin typeface="Calibri"/>
              </a:rPr>
              <a:t>Sauvegardes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292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Backup failed · rotation erreur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Résultats &amp; Perspectives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A84B"/>
                </a:solidFill>
                <a:latin typeface="Calibri"/>
              </a:rPr>
              <a:t>MVP livré · trajectoire vers V2 définie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5166360"/>
          </a:xfrm>
          <a:prstGeom prst="rect">
            <a:avLst/>
          </a:prstGeom>
          <a:solidFill>
            <a:srgbClr val="EEFBF3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749"/>
                </a:solidFill>
                <a:latin typeface="Calibri"/>
              </a:rPr>
              <a:t>✓  Ce qu'on a livré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3619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MCD + MLD + DDL (8 tables, 3NF, V2)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Architecture HA / PRA (3 serveurs MariaDB)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RTO cible 1h / RPO cible 15min atteints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Note de direction sécurité CODIR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Stack supervision Prometheus +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50791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RunBook exploitation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749"/>
                </a:solidFill>
                <a:latin typeface="Calibri"/>
              </a:rPr>
              <a:t>✓  6 ADR tracés (sujet exige ≥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6749"/>
                </a:solidFill>
                <a:latin typeface="Calibri"/>
              </a:rPr>
              <a:t>✓  Postulat cadrage documenté (ADR 0003)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5577840" cy="5166360"/>
          </a:xfrm>
          <a:prstGeom prst="rect">
            <a:avLst/>
          </a:prstGeom>
          <a:solidFill>
            <a:srgbClr val="EEF3FB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155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→  Perspectives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36192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  <a:latin typeface="Calibri"/>
              </a:rPr>
              <a:t>→  Exécution DDL sur MariaDB 11.4  (1re priorité)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Galera Cluster (HA synchrone)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70048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HAProxy actif/passif + Keepalived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36976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Gestion lots / DLC / FEFO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03904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Chiffrement au repos (TLS + encrypt tables)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Pivot 3PL si évolution NTL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37759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6CB0"/>
                </a:solidFill>
                <a:latin typeface="Calibri"/>
              </a:rPr>
              <a:t>→  Intégration ERP fournisseurs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8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Un postulat assumé, pas une incompréhension.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Un MVP cohérent, documenté, exploitable dès J+1.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611880"/>
            <a:ext cx="3959352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 ADR · 8 tables · RTO 1h — objectifs atteints.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A84B"/>
                </a:solidFill>
                <a:latin typeface="Calibri"/>
              </a:rPr>
              <a:t>Merci — Questions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Ianis · Blaise · Ojvind · Zaid  —  MSPR3 · EPSI Nantes · Juillet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