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Base de données WMS — NTL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C8A84B"/>
                </a:solidFill>
                <a:latin typeface="Calibri"/>
              </a:defRPr>
            </a:pPr>
            <a:r>
              <a:t>Conception · Haute disponibilité · Industrialisation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Ianis · Blaise · Ojvind · Zaid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9D4DF"/>
                </a:solidFill>
                <a:latin typeface="Calibri"/>
              </a:defRPr>
            </a:pPr>
            <a:r>
              <a:t>MSPR3 — EPSI Nantes — Juillet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576218" cy="1965960"/>
          </a:xfrm>
          <a:prstGeom prst="round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Contexte &amp;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920240"/>
            <a:ext cx="3576218" cy="1965960"/>
          </a:xfrm>
          <a:prstGeom prst="round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0618" y="205740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0618" y="310896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Modèle de données (MCD / MLD)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6" y="1920240"/>
            <a:ext cx="3576218" cy="196596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1156" y="205740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1156" y="310896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Infrastructure technique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3576218" cy="1965960"/>
          </a:xfrm>
          <a:prstGeom prst="roundRect">
            <a:avLst/>
          </a:prstGeom>
          <a:solidFill>
            <a:srgbClr val="7A3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Haute Disponibilité &amp; PRA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4160520"/>
            <a:ext cx="3576218" cy="1965960"/>
          </a:xfrm>
          <a:prstGeom prst="round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0618" y="429768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534924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Sécurité &amp; Supervision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4160520"/>
            <a:ext cx="3576218" cy="1965960"/>
          </a:xfrm>
          <a:prstGeom prst="round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1156" y="4297680"/>
            <a:ext cx="32104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1156" y="5349240"/>
            <a:ext cx="321045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Résultats &amp; Perspectives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Contexte &amp; Périmètre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501487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5172303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3A5C"/>
                </a:solidFill>
                <a:latin typeface="Calibri"/>
              </a:defRPr>
            </a:pPr>
            <a:r>
              <a:t>Qui est NTL ?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PME logistique Hauts-de-France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1 siège social — Lille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3 entrepôts régionaux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WMS propriétaire en 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63040"/>
            <a:ext cx="5501487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1627632"/>
            <a:ext cx="5172303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B6CB0"/>
                </a:solidFill>
                <a:latin typeface="Calibri"/>
              </a:defRPr>
            </a:pPr>
            <a:r>
              <a:t>Notre mission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Concevoir la BDD du WMS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Haute disponibilité (HA) + PRA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Sécurité des accès &amp; des données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Supervision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92040"/>
            <a:ext cx="3576218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35762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C8A84B"/>
                </a:solidFill>
                <a:latin typeface="Calibri"/>
              </a:defRPr>
            </a:pPr>
            <a:r>
              <a:t>76h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B6B6B"/>
                </a:solidFill>
                <a:latin typeface="Calibri"/>
              </a:defRPr>
            </a:pPr>
            <a:r>
              <a:t>équipe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7738" y="4892040"/>
            <a:ext cx="3576218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7738" y="5029200"/>
            <a:ext cx="35762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C8A84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580644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B6B6B"/>
                </a:solidFill>
                <a:latin typeface="Calibri"/>
              </a:defRPr>
            </a:pPr>
            <a:r>
              <a:t>livrables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4892040"/>
            <a:ext cx="3576218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8276" y="5029200"/>
            <a:ext cx="357621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 i="0">
                <a:solidFill>
                  <a:srgbClr val="C8A84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5806440"/>
            <a:ext cx="3576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B6B6B"/>
                </a:solidFill>
                <a:latin typeface="Calibri"/>
              </a:defRPr>
            </a:pPr>
            <a:r>
              <a:t>ADR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Postulat de cadrage — ADR 0003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501487" cy="1234440"/>
          </a:xfrm>
          <a:prstGeom prst="roundRect">
            <a:avLst/>
          </a:prstGeom>
          <a:solidFill>
            <a:srgbClr val="F5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517230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B1A1A"/>
                </a:solidFill>
                <a:latin typeface="Calibri"/>
              </a:defRPr>
            </a:pPr>
            <a:r>
              <a:t>Problème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Le sujet est ambigu : NTL = grossiste ou prestataire 3PL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17320"/>
            <a:ext cx="5501487" cy="1234440"/>
          </a:xfrm>
          <a:prstGeom prst="roundRect">
            <a:avLst/>
          </a:prstGeom>
          <a:solidFill>
            <a:srgbClr val="EA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1581912"/>
            <a:ext cx="5172303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76749"/>
                </a:solidFill>
                <a:latin typeface="Calibri"/>
              </a:defRPr>
            </a:pPr>
            <a:r>
              <a:t>Décision</a:t>
            </a:r>
          </a:p>
          <a:p>
            <a:pPr algn="l">
              <a:spcAft>
                <a:spcPts val="400"/>
              </a:spcAft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Postulat retenu : NTL = GROSSISTE (stock propre)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3A5C"/>
                </a:solidFill>
                <a:latin typeface="Calibri"/>
              </a:defRPr>
            </a:pPr>
            <a:r>
              <a:t>Conséquences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360669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33323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0 trigger (pas de gestion multi-tenant)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2498" y="3337560"/>
            <a:ext cx="360669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3474720"/>
            <a:ext cx="33323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8 tables (suppression article_stock, ajout commande)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3337560"/>
            <a:ext cx="360669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4956" y="3474720"/>
            <a:ext cx="33323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1A1A1A"/>
                </a:solidFill>
                <a:latin typeface="Calibri"/>
              </a:defRPr>
            </a:pPr>
            <a:r>
              <a:t>FK simples (pas de FK composites id_article + id_client)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11277295" cy="914400"/>
          </a:xfrm>
          <a:prstGeom prst="round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728655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1">
                <a:solidFill>
                  <a:srgbClr val="FFFFFF"/>
                </a:solidFill>
                <a:latin typeface="Calibri"/>
              </a:defRPr>
            </a:pPr>
            <a:r>
              <a:t>Toute limite V1 est un ARBITRAGE TRACÉ, jamais un oubli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Modèle Conceptuel de Données —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" y="144018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14401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72700" y="144018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72700" y="144018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UTILISATEUR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" y="262890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" y="26289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LOCALISATION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72700" y="262890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72700" y="26289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" y="390906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" y="390906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ARTICLE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7580" y="3909060"/>
            <a:ext cx="14173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7580" y="390906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STOCK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5372100"/>
            <a:ext cx="15544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537210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 i="0">
                <a:solidFill>
                  <a:srgbClr val="1A3A5C"/>
                </a:solidFill>
                <a:latin typeface="Calibri"/>
              </a:defRPr>
            </a:pPr>
            <a:r>
              <a:t>MOUVEMENT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348740"/>
            <a:ext cx="1828800" cy="777240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3944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6962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Calibri"/>
              </a:defRPr>
            </a:pPr>
            <a:r>
              <a:t>quantite_commandee, date_commande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1947672"/>
            <a:ext cx="0" cy="676656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6072" y="217627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15798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(1,N)-(1,1)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7360" y="3017520"/>
            <a:ext cx="1828800" cy="100584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404872" y="309067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307238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(1,N)-(1,1)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01952" y="4160520"/>
            <a:ext cx="1481328" cy="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404872" y="3758184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4872" y="3739896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(1,N)-(1,1)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80560" y="4416552"/>
            <a:ext cx="1828800" cy="978408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873752" y="478231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3752" y="476402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(0,N)-(1,1)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7589520" y="2057400"/>
            <a:ext cx="2834640" cy="3291840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308592" y="309067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8592" y="307238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(0,N)-(1,1)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881360" y="1947672"/>
            <a:ext cx="0" cy="676656"/>
          </a:xfrm>
          <a:prstGeom prst="line">
            <a:avLst/>
          </a:prstGeom>
          <a:ln w="22225">
            <a:solidFill>
              <a:srgbClr val="2B6C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954512" y="217627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54512" y="215798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(1,N)-(1,1)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8001000" y="3200400"/>
            <a:ext cx="2423160" cy="2240280"/>
          </a:xfrm>
          <a:prstGeom prst="line">
            <a:avLst/>
          </a:prstGeom>
          <a:ln w="22225">
            <a:solidFill>
              <a:srgbClr val="6B6B6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9582912" y="4050792"/>
            <a:ext cx="585216" cy="219456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82912" y="4032504"/>
            <a:ext cx="5852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B6B6B"/>
                </a:solidFill>
                <a:latin typeface="Calibri"/>
              </a:defRPr>
            </a:pPr>
            <a:r>
              <a:t>(0,N)-(0,1)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6949440.0" y="1828800"/>
            <a:ext cx="3218688.0" cy="685800"/>
          </a:xfrm>
          <a:prstGeom prst="line">
            <a:avLst/>
          </a:prstGeom>
          <a:ln w="22225">
            <a:solidFill>
              <a:srgbClr val="C8A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645920" y="1828800"/>
            <a:ext cx="3474720.0" cy="1965960"/>
          </a:xfrm>
          <a:prstGeom prst="line">
            <a:avLst/>
          </a:prstGeom>
          <a:ln w="22225">
            <a:solidFill>
              <a:srgbClr val="C8A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57200" y="626364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227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Entité (bordure navy)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6263640"/>
            <a:ext cx="146304" cy="146304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5808" y="6227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Association N-N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6263640"/>
            <a:ext cx="146304" cy="1463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30368" y="6227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Lien FK / cardinalité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Modèle Logique &amp; Contraintes — 8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46304" cy="146304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042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PK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078992"/>
            <a:ext cx="146304" cy="146304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64208" y="1042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FK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078992"/>
            <a:ext cx="146304" cy="146304"/>
          </a:xfrm>
          <a:prstGeom prst="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042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UNIQUE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078992"/>
            <a:ext cx="146304" cy="146304"/>
          </a:xfrm>
          <a:prstGeom prst="rect">
            <a:avLst/>
          </a:prstGeom>
          <a:solidFill>
            <a:srgbClr val="2767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1042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CHECK / NOT NULL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078992"/>
            <a:ext cx="146304" cy="14630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1042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Calibri"/>
              </a:defRPr>
            </a:pPr>
            <a:r>
              <a:t>NULL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417320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141732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3220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163220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id_site | INT UNSIGNED · PK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4708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184708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libellé | VARCHAR(100) · NOT 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6197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206197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adresse | VARCHAR(255) · NOT NULL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10813" y="1417320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65677" y="141732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LOCALISATION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813" y="163220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65677" y="163220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id_localisation | INT UNSIGNED · PK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813" y="184708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65677" y="184708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6B46C1"/>
                </a:solidFill>
                <a:latin typeface="Calibri"/>
              </a:defRPr>
            </a:pPr>
            <a:r>
              <a:t>code | VARCHAR(30) · UNIQUE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813" y="206197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5677" y="206197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zone, allee, etage, place | VARCHAR · NOT NULL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0813" y="227685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5677" y="227685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id_site | INT UNSIGNED · FK→site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4427" y="1417320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9291" y="141732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UTILISATEUR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163220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9291" y="163220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id_utilisateur | INT UNSIGNED · PK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64427" y="184708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9291" y="184708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nom | VARCHAR(100) · NOT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4427" y="206197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9291" y="206197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rôle | VARCHAR(30) · NOT NULL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18041" y="1417320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72905" y="141732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8041" y="163220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2905" y="163220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id_client | INT UNSIGNED · PK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18041" y="184708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72905" y="184708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nom | VARCHAR(100) · NOT NULL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8041" y="206197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72905" y="206197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6B46C1"/>
                </a:solidFill>
                <a:latin typeface="Calibri"/>
              </a:defRPr>
            </a:pPr>
            <a:r>
              <a:t>siret | CHAR(14) · UNIQUE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18041" y="227685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2905" y="227685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6B6B6B"/>
                </a:solidFill>
                <a:latin typeface="Calibri"/>
              </a:defRPr>
            </a:pPr>
            <a:r>
              <a:t>telephone | VARCHAR(20) · NULL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18041" y="249174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72905" y="249174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status | VARCHAR(20) · DEFAULT 'actif'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18041" y="270662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2905" y="270662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id_utilisateur | INT UNSIGNED · FK→utilisateur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767328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064" y="376732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ARTICLE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8221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398221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id_article | INT UNSIGNED · PK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19709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" y="419709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nom | VARCHAR(150) · NOT NULL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41198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" y="441198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76749"/>
                </a:solidFill>
                <a:latin typeface="Calibri"/>
              </a:defRPr>
            </a:pPr>
            <a:r>
              <a:t>poids | DECIMAL(10,3) · CHECK&gt;0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462686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462686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6B6B6B"/>
                </a:solidFill>
                <a:latin typeface="Calibri"/>
              </a:defRPr>
            </a:pPr>
            <a:r>
              <a:t>fournisseur | VARCHAR(100) · NULL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484174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" y="484174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type | VARCHAR(50) · NOT NULL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0813" y="3767328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65677" y="376732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STOCK 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10813" y="398221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65677" y="398221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id_stock | INT UNSIGNED · PK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0813" y="419709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65677" y="419709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quantite | INT UNSIGNED · DEFAULT 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10813" y="441198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65677" y="441198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id_article | INT UNSIGNED · FK→article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10813" y="462686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65677" y="462686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id_localisation | INT UNSIGNED · FK→localisation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10813" y="484174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65677" y="484174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6B46C1"/>
                </a:solidFill>
                <a:latin typeface="Calibri"/>
              </a:defRPr>
            </a:pPr>
            <a:r>
              <a:t>UNIQUE(id_article, id_localisation)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64427" y="3767328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9291" y="376732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MOUVEMENT 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64427" y="398221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9291" y="398221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id_mouvement | INT UNSIGNED · PK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64427" y="419709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9291" y="419709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76749"/>
                </a:solidFill>
                <a:latin typeface="Calibri"/>
              </a:defRPr>
            </a:pPr>
            <a:r>
              <a:t>type | VARCHAR(20) · CHECK IN(4 valeurs)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64427" y="441198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9291" y="441198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6B46C1"/>
                </a:solidFill>
                <a:latin typeface="Calibri"/>
              </a:defRPr>
            </a:pPr>
            <a:r>
              <a:t>reference | VARCHAR(50) · UNIQUE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64427" y="462686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19291" y="462686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date | DATE · NOT NULL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64427" y="484174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19291" y="484174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heure | TIME · NOT NULL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64427" y="505663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219291" y="505663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76749"/>
                </a:solidFill>
                <a:latin typeface="Calibri"/>
              </a:defRPr>
            </a:pPr>
            <a:r>
              <a:t>quantite | INT UNSIGNED · CHECK&gt;0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64427" y="527151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9291" y="527151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id_stock | INT UNSIGNED · FK→stock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64427" y="548640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19291" y="548640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id_utilisateur | INT UNSIGNED · FK→utilisateur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64427" y="570128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19291" y="570128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6B6B6B"/>
                </a:solidFill>
                <a:latin typeface="Calibri"/>
              </a:defRPr>
            </a:pPr>
            <a:r>
              <a:t>id_client | INT UNSIGNED · NULL · FK→client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18041" y="3767328"/>
            <a:ext cx="2716453" cy="214884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072905" y="376732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  <a:latin typeface="Calibri"/>
              </a:defRPr>
            </a:pPr>
            <a:r>
              <a:t>COMMANDE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18041" y="3982212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72905" y="3982212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C8A84B"/>
                </a:solidFill>
                <a:latin typeface="Calibri"/>
              </a:defRPr>
            </a:pPr>
            <a:r>
              <a:t>id_commande | INT UNSIGNED · PK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18041" y="4197096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72905" y="4197096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id_client | INT UNSIGNED · FK→client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018041" y="4411980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072905" y="4411980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B6CB0"/>
                </a:solidFill>
                <a:latin typeface="Calibri"/>
              </a:defRPr>
            </a:pPr>
            <a:r>
              <a:t>id_article | INT UNSIGNED · FK→article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18041" y="4626864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72905" y="4626864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1" i="0">
                <a:solidFill>
                  <a:srgbClr val="276749"/>
                </a:solidFill>
                <a:latin typeface="Calibri"/>
              </a:defRPr>
            </a:pPr>
            <a:r>
              <a:t>quantite_commandee | INT UNSIGNED · CHECK&gt;0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18041" y="4841748"/>
            <a:ext cx="2716453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072905" y="4841748"/>
            <a:ext cx="2606725" cy="2148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60" b="0" i="0">
                <a:solidFill>
                  <a:srgbClr val="1A1A1A"/>
                </a:solidFill>
                <a:latin typeface="Calibri"/>
              </a:defRPr>
            </a:pPr>
            <a:r>
              <a:t>date_commande | DATETIME · DEFAULT CURRENT_TIMESTAMP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1">
                <a:solidFill>
                  <a:srgbClr val="6B6B6B"/>
                </a:solidFill>
                <a:latin typeface="Calibri"/>
              </a:defRPr>
            </a:pPr>
            <a:r>
              <a:t>Moteur : InnoDB · Charset : utf8mb4 · ON DELETE RESTRICT partout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Infrastructure technique — 3 serveurs MariaDB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3576218" cy="3566160"/>
          </a:xfrm>
          <a:prstGeom prst="roundRect">
            <a:avLst/>
          </a:prstGeom>
          <a:solidFill>
            <a:srgbClr val="DDE6EE"/>
          </a:solidFill>
          <a:ln w="127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324703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A3A5C"/>
                </a:solidFill>
                <a:latin typeface="Calibri"/>
              </a:defRPr>
            </a:pPr>
            <a:r>
              <a:t>BDD1 — MASTER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Rôle : Production, toutes les écritures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OS : Ubuntu Server 22.04 LTS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SGBD : MariaDB 11.4 LTS (jusqu'en 2029)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Config : 2-4 vCPU · 8-16 Go RAM · SSD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Réseau : 1 Gbit/s · site Lille siège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7738" y="1417320"/>
            <a:ext cx="3576218" cy="3566160"/>
          </a:xfrm>
          <a:prstGeom prst="roundRect">
            <a:avLst/>
          </a:prstGeom>
          <a:solidFill>
            <a:srgbClr val="DCE9F7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2330" y="1581912"/>
            <a:ext cx="324703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B6CB0"/>
                </a:solidFill>
                <a:latin typeface="Calibri"/>
              </a:defRPr>
            </a:pPr>
            <a:r>
              <a:t>BDD2 — SLAVE HA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Rôle : Réplication locale, haute dispo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OS : Ubuntu Server 22.04 LTS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SGBD : MariaDB 11.4 LTS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Config : 2-4 vCPU · 8-16 Go RAM · SSD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Réseau : même LAN que BDD1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58276" y="1417320"/>
            <a:ext cx="3576218" cy="3566160"/>
          </a:xfrm>
          <a:prstGeom prst="roundRect">
            <a:avLst/>
          </a:prstGeom>
          <a:solidFill>
            <a:srgbClr val="EAF5EB"/>
          </a:solidFill>
          <a:ln w="12700">
            <a:solidFill>
              <a:srgbClr val="276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2868" y="1581912"/>
            <a:ext cx="324703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276749"/>
                </a:solidFill>
                <a:latin typeface="Calibri"/>
              </a:defRPr>
            </a:pPr>
            <a:r>
              <a:t>BDD3 — SLAVE PRA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Rôle : Réplication distante, PRA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OS : Ubuntu Server 22.04 LTS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SGBD : MariaDB 11.4 LTS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Config : 2-4 vCPU · 8-16 Go RAM</a:t>
            </a:r>
          </a:p>
          <a:p>
            <a:pPr algn="l">
              <a:spcAft>
                <a:spcPts val="400"/>
              </a:spcAft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Réseau : site distant (hors Lille)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57800"/>
            <a:ext cx="11277295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6752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 i="0">
                <a:solidFill>
                  <a:srgbClr val="1A3A5C"/>
                </a:solidFill>
                <a:latin typeface="Calibri"/>
              </a:defRPr>
            </a:pPr>
            <a:r>
              <a:t>HAProxy 2.x · Prometheus + mysqld_exporter + node_exporter · mariabackup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79592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6B6B6B"/>
                </a:solidFill>
                <a:latin typeface="Calibri"/>
              </a:defRPr>
            </a:pPr>
            <a:r>
              <a:t>Paramètres clés MariaDB : innodb_buffer_pool_size=60%RAM · sync_binlog=1 · slow_query_log=ON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Topologie Haute Disponibilité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10896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A3A5C"/>
                </a:solidFill>
                <a:latin typeface="Calibri"/>
              </a:defRPr>
            </a:pPr>
            <a:r>
              <a:t>WMS-APP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3108960" cy="64008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2B6CB0"/>
                </a:solidFill>
                <a:latin typeface="Calibri"/>
              </a:defRPr>
            </a:pPr>
            <a:r>
              <a:t>HAProxy</a:t>
            </a:r>
            <a:br/>
            <a:r>
              <a:t>(load balancer / health check)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3108960" cy="640080"/>
          </a:xfrm>
          <a:prstGeom prst="roundRect">
            <a:avLst/>
          </a:prstGeom>
          <a:solidFill>
            <a:srgbClr val="DDE6EE"/>
          </a:solidFill>
          <a:ln w="1905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A3A5C"/>
                </a:solidFill>
                <a:latin typeface="Calibri"/>
              </a:defRPr>
            </a:pPr>
            <a:r>
              <a:t>BDD1 — MASTER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892040"/>
            <a:ext cx="1280160" cy="640080"/>
          </a:xfrm>
          <a:prstGeom prst="roundRect">
            <a:avLst/>
          </a:prstGeom>
          <a:solidFill>
            <a:srgbClr val="DCE9F7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 i="0">
                <a:solidFill>
                  <a:srgbClr val="2B6CB0"/>
                </a:solidFill>
                <a:latin typeface="Calibri"/>
              </a:defRPr>
            </a:pPr>
            <a:r>
              <a:t>BDD2</a:t>
            </a:r>
            <a:br/>
            <a:r>
              <a:t>SLAVE 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892040"/>
            <a:ext cx="1280160" cy="640080"/>
          </a:xfrm>
          <a:prstGeom prst="roundRect">
            <a:avLst/>
          </a:prstGeom>
          <a:solidFill>
            <a:srgbClr val="EAF5EB"/>
          </a:solidFill>
          <a:ln w="12700">
            <a:solidFill>
              <a:srgbClr val="276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892040"/>
            <a:ext cx="1280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 i="0">
                <a:solidFill>
                  <a:srgbClr val="276749"/>
                </a:solidFill>
                <a:latin typeface="Calibri"/>
              </a:defRPr>
            </a:pPr>
            <a:r>
              <a:t>BDD3</a:t>
            </a:r>
            <a:br/>
            <a:r>
              <a:t>SLAVE PRA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.0" y="2103120"/>
            <a:ext cx="0.0" cy="411480"/>
          </a:xfrm>
          <a:prstGeom prst="line">
            <a:avLst/>
          </a:prstGeom>
          <a:ln w="28575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.0" y="3154680"/>
            <a:ext cx="0.0" cy="411480"/>
          </a:xfrm>
          <a:prstGeom prst="line">
            <a:avLst/>
          </a:prstGeom>
          <a:ln w="28575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80160.0" y="4206240"/>
            <a:ext cx="731520.0" cy="685800"/>
          </a:xfrm>
          <a:prstGeom prst="line">
            <a:avLst/>
          </a:prstGeom>
          <a:ln w="22225">
            <a:solidFill>
              <a:srgbClr val="2B6C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.0" y="4206240"/>
            <a:ext cx="731520.0" cy="685800"/>
          </a:xfrm>
          <a:prstGeom prst="line">
            <a:avLst/>
          </a:prstGeom>
          <a:ln w="22225">
            <a:solidFill>
              <a:srgbClr val="2B6C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" y="5943600"/>
            <a:ext cx="457200" cy="0"/>
          </a:xfrm>
          <a:prstGeom prst="line">
            <a:avLst/>
          </a:prstGeom>
          <a:ln w="28575">
            <a:solidFill>
              <a:srgbClr val="1A3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Écriture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5943600"/>
            <a:ext cx="457200" cy="0"/>
          </a:xfrm>
          <a:prstGeom prst="line">
            <a:avLst/>
          </a:prstGeom>
          <a:ln w="22225">
            <a:solidFill>
              <a:srgbClr val="2B6CB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832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1A1A"/>
                </a:solidFill>
                <a:latin typeface="Calibri"/>
              </a:defRPr>
            </a:pPr>
            <a:r>
              <a:t>Réplication (binlogs async)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463040"/>
            <a:ext cx="47850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1627632"/>
            <a:ext cx="4455871" cy="3785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3A5C"/>
                </a:solidFill>
                <a:latin typeface="Calibri"/>
              </a:defRPr>
            </a:pPr>
            <a:r>
              <a:t>Comptes MariaDB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appuser : SELECT/INSERT/UPDATE/DELETE, limité par IP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replicator : REPLICATION SLAVE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dba : ALL PRIVILEGES + SSH + MFA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backup : SELECT + LOCK TABLES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Plan de Reprise d'Activité — RTO 1h / RPO 15min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42062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417320"/>
            <a:ext cx="448056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417320"/>
            <a:ext cx="258775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417320"/>
            <a:ext cx="24048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Duree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4206240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Panne service MariaDB BDD1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4480560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Bascule HAProxy → BDD2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20240"/>
            <a:ext cx="2587752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920240"/>
            <a:ext cx="24048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4206240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2316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Perte VM BDD1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423160"/>
            <a:ext cx="4480560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42316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Promotion BDD2 en master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423160"/>
            <a:ext cx="2587752" cy="502920"/>
          </a:xfrm>
          <a:prstGeom prst="rect">
            <a:avLst/>
          </a:prstGeom>
          <a:solidFill>
            <a:srgbClr val="EAF5E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24048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276749"/>
                </a:solidFill>
                <a:latin typeface="Calibri"/>
              </a:defRPr>
            </a:pPr>
            <a:r>
              <a:t>5-10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26080"/>
            <a:ext cx="4206240" cy="502920"/>
          </a:xfrm>
          <a:prstGeom prst="rect">
            <a:avLst/>
          </a:prstGeom>
          <a:solidFill>
            <a:srgbClr val="FBE8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7A3D00"/>
                </a:solidFill>
                <a:latin typeface="Calibri"/>
              </a:defRPr>
            </a:pPr>
            <a:r>
              <a:t>Perte site Lille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26080"/>
            <a:ext cx="4480560" cy="502920"/>
          </a:xfrm>
          <a:prstGeom prst="rect">
            <a:avLst/>
          </a:prstGeom>
          <a:solidFill>
            <a:srgbClr val="FBE8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92608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7A3D00"/>
                </a:solidFill>
                <a:latin typeface="Calibri"/>
              </a:defRPr>
            </a:pPr>
            <a:r>
              <a:t>Bascule BDD3 PRA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926080"/>
            <a:ext cx="2587752" cy="502920"/>
          </a:xfrm>
          <a:prstGeom prst="rect">
            <a:avLst/>
          </a:prstGeom>
          <a:solidFill>
            <a:srgbClr val="FBE8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926080"/>
            <a:ext cx="24048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7A3D00"/>
                </a:solidFill>
                <a:latin typeface="Calibri"/>
              </a:defRPr>
            </a:pPr>
            <a:r>
              <a:t>20-40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29000"/>
            <a:ext cx="4206240" cy="502920"/>
          </a:xfrm>
          <a:prstGeom prst="rect">
            <a:avLst/>
          </a:prstGeom>
          <a:solidFill>
            <a:srgbClr val="F5DDD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8B1A1A"/>
                </a:solidFill>
                <a:latin typeface="Calibri"/>
              </a:defRPr>
            </a:pPr>
            <a:r>
              <a:t>Corruption logique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3429000"/>
            <a:ext cx="4480560" cy="502920"/>
          </a:xfrm>
          <a:prstGeom prst="rect">
            <a:avLst/>
          </a:prstGeom>
          <a:solidFill>
            <a:srgbClr val="F5DDD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429000"/>
            <a:ext cx="4297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8B1A1A"/>
                </a:solidFill>
                <a:latin typeface="Calibri"/>
              </a:defRPr>
            </a:pPr>
            <a:r>
              <a:t>Dump + relecture binlogs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429000"/>
            <a:ext cx="2587752" cy="502920"/>
          </a:xfrm>
          <a:prstGeom prst="rect">
            <a:avLst/>
          </a:prstGeom>
          <a:solidFill>
            <a:srgbClr val="F5DDD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3429000"/>
            <a:ext cx="24048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 i="0">
                <a:solidFill>
                  <a:srgbClr val="8B1A1A"/>
                </a:solidFill>
                <a:latin typeface="Calibri"/>
              </a:defRPr>
            </a:pPr>
            <a:r>
              <a:t>selon volume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206240"/>
            <a:ext cx="5623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370832"/>
            <a:ext cx="5294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1A3A5C"/>
                </a:solidFill>
                <a:latin typeface="Calibri"/>
              </a:defRPr>
            </a:pPr>
            <a:r>
              <a:t>Conditions avant bascule HA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Slave_IO_Running = Yes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Slave_SQL_Running = Yes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Seconds_Behind_Master = 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4206240"/>
            <a:ext cx="583387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A8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370832"/>
            <a:ext cx="5504688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1A3A5C"/>
                </a:solidFill>
                <a:latin typeface="Calibri"/>
              </a:defRPr>
            </a:pPr>
            <a:r>
              <a:t>Plan de sauvegardes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Complète quotidienne 02h00 (mariabackup)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Binlogs conservés 48h · Rétention 14 jours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Externalisation des sauvegardes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Sécurité — Note de Direction CODIR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686800" cy="365760"/>
          </a:xfrm>
          <a:prstGeom prst="rect">
            <a:avLst/>
          </a:prstGeom>
          <a:solidFill>
            <a:srgbClr val="F5DDD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Calibri"/>
              </a:defRPr>
            </a:pPr>
            <a:r>
              <a:t>1 · Arrêt BDD (4 sites bloqués)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8686800" cy="365760"/>
          </a:xfrm>
          <a:prstGeom prst="rect">
            <a:avLst/>
          </a:prstGeom>
          <a:solidFill>
            <a:srgbClr val="F5DDD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Calibri"/>
              </a:defRPr>
            </a:pPr>
            <a:r>
              <a:t>2 · Vol accès applicatif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8686800" cy="365760"/>
          </a:xfrm>
          <a:prstGeom prst="rect">
            <a:avLst/>
          </a:prstGeom>
          <a:solidFill>
            <a:srgbClr val="F5DDD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Calibri"/>
              </a:defRPr>
            </a:pPr>
            <a:r>
              <a:t>3 · Ransomware + sauvegardes compromises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03120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8686800" cy="365760"/>
          </a:xfrm>
          <a:prstGeom prst="rect">
            <a:avLst/>
          </a:prstGeom>
          <a:solidFill>
            <a:srgbClr val="FBE8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68880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Calibri"/>
              </a:defRPr>
            </a:pPr>
            <a:r>
              <a:t>4 · Exfiltration données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50" b="1" i="0">
                <a:solidFill>
                  <a:srgbClr val="7A3D00"/>
                </a:solidFill>
                <a:latin typeface="Calibri"/>
              </a:defRPr>
            </a:pPr>
            <a:r>
              <a:t>ÉLEVÉE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8686800" cy="365760"/>
          </a:xfrm>
          <a:prstGeom prst="rect">
            <a:avLst/>
          </a:prstGeom>
          <a:solidFill>
            <a:srgbClr val="FBE8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834640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A1A1A"/>
                </a:solidFill>
                <a:latin typeface="Calibri"/>
              </a:defRPr>
            </a:pPr>
            <a:r>
              <a:t>5 · Perte traçabilité réglementaire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834640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50" b="1" i="0">
                <a:solidFill>
                  <a:srgbClr val="7A3D00"/>
                </a:solidFill>
                <a:latin typeface="Calibri"/>
              </a:defRPr>
            </a:pPr>
            <a:r>
              <a:t>ÉLEVÉE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1">
                <a:solidFill>
                  <a:srgbClr val="6B6B6B"/>
                </a:solidFill>
                <a:latin typeface="Calibri"/>
              </a:defRPr>
            </a:pPr>
            <a:r>
              <a:t>RGPD : notification de fuite sous 72h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60669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005072"/>
            <a:ext cx="327751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8B1A1A"/>
                </a:solidFill>
                <a:latin typeface="Calibri"/>
              </a:defRPr>
            </a:pPr>
            <a:r>
              <a:t>P1 — 6 semaines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Sauvegardes 3-2-1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Cluster HA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MFA admin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Coffre a secrets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2498" y="3840480"/>
            <a:ext cx="360669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3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7090" y="4005072"/>
            <a:ext cx="327751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7A3D00"/>
                </a:solidFill>
                <a:latin typeface="Calibri"/>
              </a:defRPr>
            </a:pPr>
            <a:r>
              <a:t>P2 — 3 mois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Moindre privilège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Audit log 12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3840480"/>
            <a:ext cx="360669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67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2388" y="4005072"/>
            <a:ext cx="327751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276749"/>
                </a:solidFill>
                <a:latin typeface="Calibri"/>
              </a:defRPr>
            </a:pPr>
            <a:r>
              <a:t>P3 — 6 mois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Exercice de crise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Assurance cyber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Supervision — 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3A5C"/>
                </a:solidFill>
                <a:latin typeface="Calibri"/>
              </a:defRPr>
            </a:pPr>
            <a:r>
              <a:t>Stack : Prometheus · Grafana · mysqld_exporter · node_exporter · Slow Query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356616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Indicateur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874519"/>
            <a:ext cx="283464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87451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874519"/>
            <a:ext cx="283464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Alerte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874519"/>
            <a:ext cx="2039112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87451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77439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7743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Latence 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377439"/>
            <a:ext cx="2834640" cy="502920"/>
          </a:xfrm>
          <a:prstGeom prst="rect">
            <a:avLst/>
          </a:prstGeom>
          <a:solidFill>
            <a:srgbClr val="EAF5EB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37743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76749"/>
                </a:solidFill>
                <a:latin typeface="Calibri"/>
              </a:defRPr>
            </a:pPr>
            <a:r>
              <a:t>&lt;50ms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377439"/>
            <a:ext cx="2834640" cy="502920"/>
          </a:xfrm>
          <a:prstGeom prst="rect">
            <a:avLst/>
          </a:prstGeom>
          <a:solidFill>
            <a:srgbClr val="FBE8D3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37743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7A3D00"/>
                </a:solidFill>
                <a:latin typeface="Calibri"/>
              </a:defRPr>
            </a:pPr>
            <a:r>
              <a:t>&gt;150ms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2377439"/>
            <a:ext cx="2039112" cy="502920"/>
          </a:xfrm>
          <a:prstGeom prst="rect">
            <a:avLst/>
          </a:prstGeom>
          <a:solidFill>
            <a:srgbClr val="F5DDDD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37743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8B1A1A"/>
                </a:solidFill>
                <a:latin typeface="Calibri"/>
              </a:defRPr>
            </a:pPr>
            <a:r>
              <a:t>&gt;300ms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59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8035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Connexions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880359"/>
            <a:ext cx="2834640" cy="502920"/>
          </a:xfrm>
          <a:prstGeom prst="rect">
            <a:avLst/>
          </a:prstGeom>
          <a:solidFill>
            <a:srgbClr val="EAF5EB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88035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76749"/>
                </a:solidFill>
                <a:latin typeface="Calibri"/>
              </a:defRPr>
            </a:pPr>
            <a:r>
              <a:t>&lt;50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880359"/>
            <a:ext cx="2834640" cy="502920"/>
          </a:xfrm>
          <a:prstGeom prst="rect">
            <a:avLst/>
          </a:prstGeom>
          <a:solidFill>
            <a:srgbClr val="FBE8D3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88035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7A3D00"/>
                </a:solidFill>
                <a:latin typeface="Calibri"/>
              </a:defRPr>
            </a:pPr>
            <a:r>
              <a:t>&gt;100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880359"/>
            <a:ext cx="2039112" cy="502920"/>
          </a:xfrm>
          <a:prstGeom prst="rect">
            <a:avLst/>
          </a:prstGeom>
          <a:solidFill>
            <a:srgbClr val="F5DDDD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88035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8B1A1A"/>
                </a:solidFill>
                <a:latin typeface="Calibri"/>
              </a:defRPr>
            </a:pPr>
            <a:r>
              <a:t>&gt;150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79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38327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Réplication (retard)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383279"/>
            <a:ext cx="2834640" cy="502920"/>
          </a:xfrm>
          <a:prstGeom prst="rect">
            <a:avLst/>
          </a:prstGeom>
          <a:solidFill>
            <a:srgbClr val="EAF5EB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338327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76749"/>
                </a:solidFill>
                <a:latin typeface="Calibri"/>
              </a:defRPr>
            </a:pPr>
            <a:r>
              <a:t>0-5s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383279"/>
            <a:ext cx="2834640" cy="502920"/>
          </a:xfrm>
          <a:prstGeom prst="rect">
            <a:avLst/>
          </a:prstGeom>
          <a:solidFill>
            <a:srgbClr val="FBE8D3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338327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7A3D00"/>
                </a:solidFill>
                <a:latin typeface="Calibri"/>
              </a:defRPr>
            </a:pPr>
            <a:r>
              <a:t>&gt;15s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92640" y="3383279"/>
            <a:ext cx="2039112" cy="502920"/>
          </a:xfrm>
          <a:prstGeom prst="rect">
            <a:avLst/>
          </a:prstGeom>
          <a:solidFill>
            <a:srgbClr val="F5DDDD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38327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8B1A1A"/>
                </a:solidFill>
                <a:latin typeface="Calibri"/>
              </a:defRPr>
            </a:pPr>
            <a:r>
              <a:t>&gt;30s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199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88619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Espace disque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886199"/>
            <a:ext cx="2834640" cy="502920"/>
          </a:xfrm>
          <a:prstGeom prst="rect">
            <a:avLst/>
          </a:prstGeom>
          <a:solidFill>
            <a:srgbClr val="EAF5EB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388619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76749"/>
                </a:solidFill>
                <a:latin typeface="Calibri"/>
              </a:defRPr>
            </a:pPr>
            <a:r>
              <a:t>&gt;20%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886199"/>
            <a:ext cx="2834640" cy="502920"/>
          </a:xfrm>
          <a:prstGeom prst="rect">
            <a:avLst/>
          </a:prstGeom>
          <a:solidFill>
            <a:srgbClr val="FBE8D3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88619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7A3D00"/>
                </a:solidFill>
                <a:latin typeface="Calibri"/>
              </a:defRPr>
            </a:pPr>
            <a:r>
              <a:t>&lt;15%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3886199"/>
            <a:ext cx="2039112" cy="502920"/>
          </a:xfrm>
          <a:prstGeom prst="rect">
            <a:avLst/>
          </a:prstGeom>
          <a:solidFill>
            <a:srgbClr val="F5DDDD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92640" y="388619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8B1A1A"/>
                </a:solidFill>
                <a:latin typeface="Calibri"/>
              </a:defRPr>
            </a:pPr>
            <a:r>
              <a:t>&lt;10%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389119"/>
            <a:ext cx="3566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389119"/>
            <a:ext cx="3566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  <a:r>
              <a:t>Sauvegardes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4389119"/>
            <a:ext cx="2834640" cy="502920"/>
          </a:xfrm>
          <a:prstGeom prst="rect">
            <a:avLst/>
          </a:prstGeom>
          <a:solidFill>
            <a:srgbClr val="EAF5EB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438911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7674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4389119"/>
            <a:ext cx="2834640" cy="502920"/>
          </a:xfrm>
          <a:prstGeom prst="rect">
            <a:avLst/>
          </a:prstGeom>
          <a:solidFill>
            <a:srgbClr val="FBE8D3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4389119"/>
            <a:ext cx="2834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7A3D00"/>
                </a:solidFill>
                <a:latin typeface="Calibri"/>
              </a:defRPr>
            </a:pPr>
            <a:r>
              <a:t>1 echec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92640" y="4389119"/>
            <a:ext cx="2039112" cy="502920"/>
          </a:xfrm>
          <a:prstGeom prst="rect">
            <a:avLst/>
          </a:prstGeom>
          <a:solidFill>
            <a:srgbClr val="F5DDDD"/>
          </a:solidFill>
          <a:ln w="6350">
            <a:solidFill>
              <a:srgbClr val="E9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2640" y="4389119"/>
            <a:ext cx="203911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8B1A1A"/>
                </a:solidFill>
                <a:latin typeface="Calibri"/>
              </a:defRPr>
            </a:pPr>
            <a:r>
              <a:t>&gt;1 echec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12064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8B1A1A"/>
                </a:solidFill>
                <a:latin typeface="Calibri"/>
              </a:defRPr>
            </a:pPr>
            <a:r>
              <a:t>Retard de réplication &gt; 30s → RPO 15min menacé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Exploitation — RunBook &amp;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501487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36192"/>
            <a:ext cx="5172303" cy="4608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3A5C"/>
                </a:solidFill>
                <a:latin typeface="Calibri"/>
              </a:defRPr>
            </a:pPr>
            <a:r>
              <a:t>RunBook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Procédures : Start/Stop MariaDB, HAProxy, health check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Checklists : quotidienne + hebdomadaire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Matrice d'escalade :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   N1 (15 min) → N2 (30 min) → N3 (1h) → N4 DBA (2h)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1A1A1A"/>
                </a:solidFill>
                <a:latin typeface="Calibri"/>
              </a:defRPr>
            </a:pPr>
            <a:r>
              <a:t>KPI d'exploitation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371600"/>
            <a:ext cx="55014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3A5C"/>
                </a:solidFill>
                <a:latin typeface="Calibri"/>
              </a:defRPr>
            </a:pPr>
            <a:r>
              <a:t>Logs — 5 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5501487" cy="777240"/>
          </a:xfrm>
          <a:prstGeom prst="roundRect">
            <a:avLst/>
          </a:prstGeom>
          <a:solidFill>
            <a:srgbClr val="F5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901952"/>
            <a:ext cx="513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1A1A"/>
                </a:solidFill>
                <a:latin typeface="Calibri"/>
              </a:defRPr>
            </a:pPr>
            <a:r>
              <a:t>error.log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2212848"/>
            <a:ext cx="4312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InnoDB corruption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2935" y="2212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79192"/>
            <a:ext cx="5501487" cy="777240"/>
          </a:xfrm>
          <a:prstGeom prst="roundRect">
            <a:avLst/>
          </a:prstGeom>
          <a:solidFill>
            <a:srgbClr val="FBE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52344"/>
            <a:ext cx="513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7A3D00"/>
                </a:solidFill>
                <a:latin typeface="Calibri"/>
              </a:defRPr>
            </a:pPr>
            <a:r>
              <a:t>slow.log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3063240"/>
            <a:ext cx="4312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requêtes lentes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82935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 i="0">
                <a:solidFill>
                  <a:srgbClr val="7A3D00"/>
                </a:solidFill>
                <a:latin typeface="Calibri"/>
              </a:defRPr>
            </a:pPr>
            <a:r>
              <a:t>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3529584"/>
            <a:ext cx="5501487" cy="77724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3602736"/>
            <a:ext cx="513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B6CB0"/>
                </a:solidFill>
                <a:latin typeface="Calibri"/>
              </a:defRPr>
            </a:pPr>
            <a:r>
              <a:t>binlogs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3913632"/>
            <a:ext cx="4312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PITR + replication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2935" y="39136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 i="0">
                <a:solidFill>
                  <a:srgbClr val="2B6CB0"/>
                </a:solidFill>
                <a:latin typeface="Calibri"/>
              </a:defRPr>
            </a:pPr>
            <a:r>
              <a:t>info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379976"/>
            <a:ext cx="5501487" cy="777240"/>
          </a:xfrm>
          <a:prstGeom prst="roundRect">
            <a:avLst/>
          </a:prstGeom>
          <a:solidFill>
            <a:srgbClr val="F5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453128"/>
            <a:ext cx="513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1A1A"/>
                </a:solidFill>
                <a:latin typeface="Calibri"/>
              </a:defRPr>
            </a:pPr>
            <a:r>
              <a:t>HAProxy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4764024"/>
            <a:ext cx="4312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Backend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2935" y="47640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5230368"/>
            <a:ext cx="5501487" cy="777240"/>
          </a:xfrm>
          <a:prstGeom prst="roundRect">
            <a:avLst/>
          </a:prstGeom>
          <a:solidFill>
            <a:srgbClr val="F5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5887" y="5303520"/>
            <a:ext cx="51357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B1A1A"/>
                </a:solidFill>
                <a:latin typeface="Calibri"/>
              </a:defRPr>
            </a:pPr>
            <a:r>
              <a:t>sauvegardes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5887" y="5614416"/>
            <a:ext cx="43127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1A1A1A"/>
                </a:solidFill>
                <a:latin typeface="Calibri"/>
              </a:defRPr>
            </a:pPr>
            <a:r>
              <a:t>Backup failed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82935" y="56144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 i="0">
                <a:solidFill>
                  <a:srgbClr val="8B1A1A"/>
                </a:solidFill>
                <a:latin typeface="Calibri"/>
              </a:defRPr>
            </a:pPr>
            <a:r>
              <a:t>critique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2976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3A5C"/>
                </a:solidFill>
                <a:latin typeface="Calibri"/>
              </a:defRPr>
            </a:pPr>
            <a:r>
              <a:t>Résultats &amp; Perspectives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501487" cy="4846320"/>
          </a:xfrm>
          <a:prstGeom prst="roundRect">
            <a:avLst/>
          </a:prstGeom>
          <a:solidFill>
            <a:srgbClr val="EAF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81912"/>
            <a:ext cx="5172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76749"/>
                </a:solidFill>
                <a:latin typeface="Calibri"/>
              </a:defRPr>
            </a:pPr>
            <a:r>
              <a:t>Ce qu'on a livré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MCD + MLD + DDL (8 tables, 3NF)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Architecture HA/PRA (RTO 1h / RPO 15min)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Note de direction sécurité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Stack supervision Prometheus/Grafana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RunBook exploitation complet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✓ 6 ADR traces (sujet exige ≥ 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17320"/>
            <a:ext cx="5501487" cy="484632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7599" y="1581912"/>
            <a:ext cx="5172303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2B6CB0"/>
                </a:solidFill>
                <a:latin typeface="Calibri"/>
              </a:defRPr>
            </a:pPr>
            <a:r>
              <a:t>V2 — Perspectives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→ Exécution DDL sur MariaDB 11.4 (1ère priorité)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→ Lots / DLC / FEFO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→ Galera Cluster (HA synchrone)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→ Pivot 3PL si evolution NTL</a:t>
            </a:r>
          </a:p>
          <a:p>
            <a:pPr algn="l">
              <a:spcAft>
                <a:spcPts val="400"/>
              </a:spcAft>
              <a:defRPr sz="1350" b="0" i="0">
                <a:solidFill>
                  <a:srgbClr val="1A1A1A"/>
                </a:solidFill>
                <a:latin typeface="Calibri"/>
              </a:defRPr>
            </a:pPr>
            <a:r>
              <a:t>→ Integration ERP fournisseurs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8A84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Un postulat assumé, pas une incompréhension.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Un MVP cohérent, documenté, exploitable dès J+1.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6 ADR, 8 tables, RTO 1h — objectifs atteints.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8A84B"/>
                </a:solidFill>
                <a:latin typeface="Calibri"/>
              </a:defRPr>
            </a:pPr>
            <a:r>
              <a:t>Merci · Questions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8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