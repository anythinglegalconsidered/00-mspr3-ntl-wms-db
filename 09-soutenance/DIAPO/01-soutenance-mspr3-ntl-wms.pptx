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11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Accroche (Ianis) : on se présente, on annonce le plan en 20 min. NTL = PME logistique 4 sites, on a conçu et industrialise la base WMS. Fil rouge de la soutenance : un pivot de cadrage maitrise (grossiste vs 3PL).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Ianis : insister sur l'enjeu metier — si la base tombe, les 4 sites sont bloques en pleine journee, penalites contractuelles. Les 3 contraintes (RTO/RPO, fenetre nocturne, equipe reduite) cadrent TOUS nos choix techniques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Ianis : expliquer la repartition en binomes et la methode ADR. Annoncer le fil rouge : on a eu un pivot de cadrage (slide difficultes) qu'on assume et qui montre la maturite de la demarche.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Ianis/Blaise : derouler le MCD. Cœur metier entreposage : un SITE contient des LOCALISATION, qui contiennent du STOCK (1 article x 1 emplacement x 1 quantite), les MOUVEMENT tracent les entrees/sorties. UTILISATEUR realise les mouvements et gere les CLIENT. La table commande = association N-N client/article.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Blaise : point d'honnetete IMPORTANT — le DDL n'a pas encore tourne sur une instance. NE JAMAIS pretendre l'avoir teste. Dire : plan de tests defini, execution = prochaine etape. Le jury valorise l'honnetete.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Ojvind : presenter la topologie. BDD2 couvre la panne locale (crash service/VM), BDD3 couvre la perte du site Lille. Replication asynchrone choisie pour faible impact sur le master et simplicite — adaptee a l'equipe IT reduite. Galera (synchrone) = piste d'evolution.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Zaid : derouler les scenarios du plus frequent (panne service) au plus grave (perte site). Insister : les RTO estimes (5-40 min) tiennent largement dans la cible 1h. Les tests planifies prouvent que le PRA n'est pas que sur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Zaid : la note CODIR traduit la technique en risque metier pour des decideurs non-techniques. Insister sur le langage : on parle penalites, RGPD, confiance client — pas de jargon. Plan P1/P2/P3 priorise par urgence.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Ojvind : les 5 indicateurs sont exiges par le sujet. Lier chaque seuil a un objectif : la replication &gt;30s menace le RPO, le disque &lt;10% peut arreter MariaDB. La stack Prometheus/Grafana est standard et open-source.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Zaid : runbook et logs forment la couche exploitation operationnelle. La matrice d'escalade et les patterns de logs montrent qu'on a pense l'exploitation quotidienne, pas seulement la conception. Tout pointe vers le respect RTO/RPO.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Ianis — SLIDE LA PLUS IMPORTANTE. C'est le fil rouge. Raconter : on est parti sur une hypothese 3PL/multi-tenant, une revue critique a revele que le sujet etait ambigu. Plutot que deviner, on a pose un postulat explicite (ADR) et simplifie le modele. Cadrer comme une iteration MAITRISEE. Piege jury n.1 : 'je ne vois pas l'isolation' -&gt; repondre attribution suffit en grossiste, isolation = V2 si 3PL.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Blaise : presenter le bilan factuellement. Rappeler l'honnetete sur le DDL non execute = 1ere perspective. Les autres perspectives = ce qu'on a volontairement reporte (assume des le debut, pas des oublis).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Toute l'equipe. Conclusion portee par Ianis. Phrase finale = 'demarche maitrisee'. Puis ouverture aux questions (30 min entretien). Avoir la FAQ et la fiche de revision en tete pour l'entretien.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87A17"/>
                </a:solidFill>
                <a:latin typeface="Calibri"/>
              </a:rPr>
              <a:t>MSPR 3 — ASRBD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Conception, exploitation et protection
d'une base de données WMS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NordTransit Logistics (NTL) — PME logistique Hauts-de-France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87A17"/>
                </a:solidFill>
                <a:latin typeface="Calibri"/>
              </a:rPr>
              <a:t>Équipe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Ianis Puichaud · Blaise Carel — modèle de données (MCD / MLD / DDL)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Ojvind · Zaid Abouyaala — infrastructure &amp; exploitation (PRA, supervision, runbook, logs)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EPSI Nantes · BAC+3 SYSOPS · 2025-2026 · Soutenance 20 min + 30 min entretien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Contexte — NordTransit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1 · Le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32933"/>
                </a:solidFill>
                <a:latin typeface="Calibri"/>
              </a:rPr>
              <a:t>• PME logistique des Hauts-de-France</a:t>
            </a: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5A6372"/>
                </a:solidFill>
                <a:latin typeface="Calibri"/>
              </a:rPr>
              <a:t>– Siège à Lille + 3 entrepôts : Lens (WH1), Valenciennes (WH2), Arras (WH3)</a:t>
            </a: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5A6372"/>
                </a:solidFill>
                <a:latin typeface="Calibri"/>
              </a:rPr>
              <a:t>– Cross-dock saisonnier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32933"/>
                </a:solidFill>
                <a:latin typeface="Calibri"/>
              </a:rPr>
              <a:t>• Déploie un nouveau WMS (Warehouse Management System)</a:t>
            </a: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5A6372"/>
                </a:solidFill>
                <a:latin typeface="Calibri"/>
              </a:rPr>
              <a:t>– La base de données concentre TOUTE l'activité : stocks, mouvements, commandes, traçabilité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32933"/>
                </a:solidFill>
                <a:latin typeface="Calibri"/>
              </a:rPr>
              <a:t>• Notre mission : concevoir et industrialiser cette base</a:t>
            </a: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5A6372"/>
                </a:solidFill>
                <a:latin typeface="Calibri"/>
              </a:rPr>
              <a:t>– Modèle de données · HA/PRA · sécurité · supervision · exploitation · logs · pilotage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463040"/>
            <a:ext cx="4023360" cy="42062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645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Contraintes imposées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86000"/>
            <a:ext cx="35661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87A17"/>
                </a:solidFill>
                <a:latin typeface="Calibri"/>
              </a:rPr>
              <a:t>RTO 1 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Reprise sous 1 heure max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E87A17"/>
                </a:solidFill>
                <a:latin typeface="Calibri"/>
              </a:rPr>
              <a:t>RPO 15 min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Perte de données ≤ 15 min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32933"/>
                </a:solidFill>
                <a:latin typeface="Calibri"/>
              </a:rPr>
              <a:t>Maintenance nocturne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Activité 5h30 → 18h30 ouvré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32933"/>
                </a:solidFill>
                <a:latin typeface="Calibri"/>
              </a:rPr>
              <a:t>Équipe IT réduite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Solutions simples &amp; maintenables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Ianis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Démarche projet &amp;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2 · 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32933"/>
                </a:solidFill>
                <a:latin typeface="Calibri"/>
              </a:rPr>
              <a:t>• Budget : 19 h × 4 personnes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32933"/>
                </a:solidFill>
                <a:latin typeface="Calibri"/>
              </a:rPr>
              <a:t>• Deux binômes spécialisés :</a:t>
            </a:r>
          </a:p>
          <a:p>
            <a:pPr lvl="1" algn="l">
              <a:spcAft>
                <a:spcPts val="700"/>
              </a:spcAft>
            </a:pPr>
            <a:r>
              <a:rPr sz="1500" b="0">
                <a:solidFill>
                  <a:srgbClr val="5A6372"/>
                </a:solidFill>
                <a:latin typeface="Calibri"/>
              </a:rPr>
              <a:t>– Data : modèle MCD → MLD → DDL (Ianis, Blaise)</a:t>
            </a:r>
          </a:p>
          <a:p>
            <a:pPr lvl="1" algn="l">
              <a:spcAft>
                <a:spcPts val="700"/>
              </a:spcAft>
            </a:pPr>
            <a:r>
              <a:rPr sz="1500" b="0">
                <a:solidFill>
                  <a:srgbClr val="5A6372"/>
                </a:solidFill>
                <a:latin typeface="Calibri"/>
              </a:rPr>
              <a:t>– Infra/exploit : PRA, supervision, runbook, logs (Ojvind, Zaid)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32933"/>
                </a:solidFill>
                <a:latin typeface="Calibri"/>
              </a:rPr>
              <a:t>• Décisions tracées par ADR (Architecture Decision Records)</a:t>
            </a:r>
          </a:p>
          <a:p>
            <a:pPr lvl="1" algn="l">
              <a:spcAft>
                <a:spcPts val="700"/>
              </a:spcAft>
            </a:pPr>
            <a:r>
              <a:rPr sz="1500" b="0">
                <a:solidFill>
                  <a:srgbClr val="5A6372"/>
                </a:solidFill>
                <a:latin typeface="Calibri"/>
              </a:rPr>
              <a:t>– 6 décisions majeures documentées (≥ 3 exigées)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32933"/>
                </a:solidFill>
                <a:latin typeface="Calibri"/>
              </a:rPr>
              <a:t>• Itération assumée : un pivot de cadrage à mi-projet</a:t>
            </a:r>
          </a:p>
          <a:p>
            <a:pPr lvl="1" algn="l">
              <a:spcAft>
                <a:spcPts val="700"/>
              </a:spcAft>
            </a:pPr>
            <a:r>
              <a:rPr sz="1500" b="0">
                <a:solidFill>
                  <a:srgbClr val="5A6372"/>
                </a:solidFill>
                <a:latin typeface="Calibri"/>
              </a:rPr>
              <a:t>– → démarche maîtrisée, pas du tâtonnement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394960" cy="4297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Les 9 livrables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1 · Architecture technique (MCD/MLD/DDL)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2 · Plan de Reprise d'Activité (PRA)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3 · Guide de supervision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4 · Démarche d'optimisation BDD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5 · RunBook d'exploitation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6 · Analyse de logs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7 · Gestion de projet (ADR, risques)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8 · Note au Comité de direction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9 · Soutenance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Ianis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Modèle de données — MCD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3 · Modèle (1/3)</a:t>
            </a:r>
          </a:p>
        </p:txBody>
      </p:sp>
      <p:pic>
        <p:nvPicPr>
          <p:cNvPr id="6" name="Picture 5" descr="wms-m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7020252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417320"/>
            <a:ext cx="3566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6BB8"/>
                </a:solidFill>
                <a:latin typeface="Calibri"/>
              </a:rPr>
              <a:t>7 entités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SITE · LOCALISATION · ARTICLE · CLIENT · STOCK · MOUVEMENT · UTILISATEUR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2E6BB8"/>
                </a:solidFill>
                <a:latin typeface="Calibri"/>
              </a:rPr>
              <a:t>+ 1 table associative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commande (N-N client ↔ article)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17"/>
                </a:solidFill>
                <a:latin typeface="Calibri"/>
              </a:rPr>
              <a:t>= 8 tables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32933"/>
                </a:solidFill>
                <a:latin typeface="Calibri"/>
              </a:rPr>
              <a:t>Postulat : NTL = grossiste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Stock propre sur 4 sites, pas de 3PL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Ianis + Blaise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Modèle de données — intégrité &amp;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3 · Modèle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2E6BB8"/>
                </a:solidFill>
                <a:latin typeface="Calibri"/>
              </a:rPr>
              <a:t>Intégrité sans triggers</a:t>
            </a:r>
          </a:p>
          <a:p>
            <a:pPr lvl="1" algn="l">
              <a:spcAft>
                <a:spcPts val="700"/>
              </a:spcAft>
            </a:pPr>
            <a:r>
              <a:rPr sz="1500" b="0">
                <a:solidFill>
                  <a:srgbClr val="232933"/>
                </a:solidFill>
                <a:latin typeface="Calibri"/>
              </a:rPr>
              <a:t>FK simples + CHECK + UNIQUE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0 trigger, 0 FK composite → modèle simple et lisible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2E6BB8"/>
                </a:solidFill>
                <a:latin typeface="Calibri"/>
              </a:rPr>
              <a:t>ON DELETE RESTRICT partout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Jamais détruire l'historique mouvements/stocks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Suppression métier = soft-delete applicatif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2E6BB8"/>
                </a:solidFill>
                <a:latin typeface="Calibri"/>
              </a:rPr>
              <a:t>Normalisation 3NF respectée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Pas de redondance, dépendances fonctionnelles propres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303520" cy="42062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Stack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32933"/>
                </a:solidFill>
                <a:latin typeface="Calibri"/>
              </a:rPr>
              <a:t>Moteur : InnoDB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seul moteur transactionnel MariaDB avec FK + ACID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32933"/>
                </a:solidFill>
                <a:latin typeface="Calibri"/>
              </a:rPr>
              <a:t>Encodage : utf8mb4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vrai UTF-8 4 octets, standard depuis ~2015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87A17"/>
                </a:solidFill>
                <a:latin typeface="Calibri"/>
              </a:rPr>
              <a:t>⚠ DDL pas encore exécuté sur MariaDB 11.4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Plan de tests défini : 4 CHECK, 10 FK, UNIQUE, RESTRICT — honnêteté assumée en soutenance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Blaise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Architecture HA / PRA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4 · Haute dispo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1206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3 serveurs MariaDB en réplication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32933"/>
                </a:solidFill>
                <a:latin typeface="Calibri"/>
              </a:rPr>
              <a:t>BDD1 — Master (production, écritures)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32933"/>
                </a:solidFill>
                <a:latin typeface="Calibri"/>
              </a:rPr>
              <a:t>BDD2 — Slave HA (réplication locale)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32933"/>
                </a:solidFill>
                <a:latin typeface="Calibri"/>
              </a:rPr>
              <a:t>BDD3 — Slave PRA (site distant)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32933"/>
                </a:solidFill>
                <a:latin typeface="Calibri"/>
              </a:rPr>
              <a:t>Accès via HAProxy (bascule auto/manuelle)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32933"/>
                </a:solidFill>
                <a:latin typeface="Calibri"/>
              </a:rPr>
              <a:t>Réplication asynchrone + binlogs</a:t>
            </a:r>
          </a:p>
          <a:p>
            <a:pPr lvl="1" algn="l">
              <a:spcAft>
                <a:spcPts val="8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RPO 15 min garanti par les binlogs (PITR)</a:t>
            </a:r>
          </a:p>
          <a:p>
            <a:pPr lvl="1" algn="l">
              <a:spcAft>
                <a:spcPts val="8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slave_parallel_workers = 4 → réduit le retard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17320"/>
            <a:ext cx="5760720" cy="4297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WMS-APP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1554480"/>
            <a:ext cx="1828800" cy="457200"/>
          </a:xfrm>
          <a:prstGeom prst="rect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572768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WMS-APP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240280"/>
            <a:ext cx="1828800" cy="457200"/>
          </a:xfrm>
          <a:prstGeom prst="rect">
            <a:avLst/>
          </a:prstGeom>
          <a:solidFill>
            <a:srgbClr val="5A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2258568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HAProxy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063240"/>
            <a:ext cx="201168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31089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BDD1 Master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063240"/>
            <a:ext cx="2011680" cy="548640"/>
          </a:xfrm>
          <a:prstGeom prst="rect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31089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BDD2 Slave HA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2011680" cy="548640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416052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BDD3 Slave PRA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23960" y="2011680"/>
            <a:ext cx="0" cy="228600"/>
          </a:xfrm>
          <a:prstGeom prst="line">
            <a:avLst/>
          </a:prstGeom>
          <a:ln w="28575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23960" y="2697480"/>
            <a:ext cx="0" cy="182880"/>
          </a:xfrm>
          <a:prstGeom prst="line">
            <a:avLst/>
          </a:prstGeom>
          <a:ln w="28575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23760" y="2880360"/>
            <a:ext cx="3200400" cy="0"/>
          </a:xfrm>
          <a:prstGeom prst="line">
            <a:avLst/>
          </a:prstGeom>
          <a:ln w="28575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23760" y="2880360"/>
            <a:ext cx="0" cy="182880"/>
          </a:xfrm>
          <a:prstGeom prst="line">
            <a:avLst/>
          </a:prstGeom>
          <a:ln w="28575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424160" y="2880360"/>
            <a:ext cx="0" cy="182880"/>
          </a:xfrm>
          <a:prstGeom prst="line">
            <a:avLst/>
          </a:prstGeom>
          <a:ln w="28575">
            <a:solidFill>
              <a:srgbClr val="5A6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23760" y="3611880"/>
            <a:ext cx="0" cy="502920"/>
          </a:xfrm>
          <a:prstGeom prst="line">
            <a:avLst/>
          </a:prstGeom>
          <a:ln w="28575">
            <a:solidFill>
              <a:srgbClr val="E87A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35040" y="4937760"/>
            <a:ext cx="5577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BDD1 → BDD2 (HA locale) · BDD1 → BDD3 (PRA distant, perte du siège)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Ojvind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PRA — scénarios &amp; procédures de bascule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4 · Haute dispo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23360" cy="566928"/>
          </a:xfrm>
          <a:prstGeom prst="rect">
            <a:avLst/>
          </a:prstGeom>
          <a:solidFill>
            <a:srgbClr val="1F2A4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Scénario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4114800" cy="566928"/>
          </a:xfrm>
          <a:prstGeom prst="rect">
            <a:avLst/>
          </a:prstGeom>
          <a:solidFill>
            <a:srgbClr val="1F2A4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371600"/>
            <a:ext cx="2926080" cy="566928"/>
          </a:xfrm>
          <a:prstGeom prst="rect">
            <a:avLst/>
          </a:prstGeom>
          <a:solidFill>
            <a:srgbClr val="1F2A4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137160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RTO estimé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4023360" cy="56692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938528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Panne service MariaDB BDD1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938528"/>
            <a:ext cx="4114800" cy="56692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938528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Bascule HAProxy → BDD2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938528"/>
            <a:ext cx="2926080" cy="56692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938528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5–10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05456"/>
            <a:ext cx="4023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505456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Perte VM BDD1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505456"/>
            <a:ext cx="4114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2505456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Bascule → BDD2 + promotion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505456"/>
            <a:ext cx="2926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0" y="2505456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5–10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72384"/>
            <a:ext cx="4023360" cy="56692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072384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Perte du site Lille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072384"/>
            <a:ext cx="4114800" cy="56692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072384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Bascule → BDD3 (PRA distant)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072384"/>
            <a:ext cx="2926080" cy="56692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3072384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20–40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39312"/>
            <a:ext cx="4023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639312"/>
            <a:ext cx="3840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Corruption logique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639312"/>
            <a:ext cx="4114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3639312"/>
            <a:ext cx="3931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Restauration dump + relecture binlogs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3639312"/>
            <a:ext cx="2926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0" y="3639312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selon volume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Conditions de bascule HA vérifiées avant : Slave_IO_Running=Yes, Slave_SQL_Running=Yes, Seconds_Behind_Master=0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Sauvegardes : complète quotidienne (mariabackup) + binlogs 48 h + configs MariaDB/HAProxy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Tests PRA planifiés : bascule HA trimestrielle · bascule PRA semestrielle · restauration mensuelle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Zaid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Sécurité — note au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5 · Sécurité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852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5 risques cyber majeurs identifiés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32933"/>
                </a:solidFill>
                <a:latin typeface="Calibri"/>
              </a:rPr>
              <a:t>1 · Arrêt prolongé de la base — Critique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32933"/>
                </a:solidFill>
                <a:latin typeface="Calibri"/>
              </a:rPr>
              <a:t>2 · Vol d'un accès applicatif — Critique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32933"/>
                </a:solidFill>
                <a:latin typeface="Calibri"/>
              </a:rPr>
              <a:t>3 · Ransomware + sauvegardes inutilisables — Critique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32933"/>
                </a:solidFill>
                <a:latin typeface="Calibri"/>
              </a:rPr>
              <a:t>4 · Exfiltration données clients — Élevée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32933"/>
                </a:solidFill>
                <a:latin typeface="Calibri"/>
              </a:rPr>
              <a:t>5 · Perte de traçabilité réglementaire — Élevée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Impacts qualitatifs ; BIA chiffrée demandée au CODIR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Enjeu RGPD : notification sous 72 h en cas de fuite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417320"/>
            <a:ext cx="5120640" cy="43891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Plan d'action priorisé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4884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7A17"/>
                </a:solidFill>
                <a:latin typeface="Calibri"/>
              </a:rPr>
              <a:t>P1 — immédiat (6 semaines)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Sauvegardes externalisées 3-2-1 · restauration testée · cluster HA · MFA admin · secrets en coffre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87A17"/>
                </a:solidFill>
                <a:latin typeface="Calibri"/>
              </a:rPr>
              <a:t>P2 — 3 mois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Cloisonnement des accès (moindre privilège) · audit log inviolable 12 mois · runbook incident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87A17"/>
                </a:solidFill>
                <a:latin typeface="Calibri"/>
              </a:rPr>
              <a:t>P3 — 6 mois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Exercice de crise · assurance cyber · sensibilisation équipes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Zaid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Supervision — 5 indicateurs critiques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5 · Sécurité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114800" cy="548640"/>
          </a:xfrm>
          <a:prstGeom prst="rect">
            <a:avLst/>
          </a:prstGeom>
          <a:solidFill>
            <a:srgbClr val="1F2A4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371600"/>
            <a:ext cx="3968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Indicateur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2011680" cy="548640"/>
          </a:xfrm>
          <a:prstGeom prst="rect">
            <a:avLst/>
          </a:prstGeom>
          <a:solidFill>
            <a:srgbClr val="1F2A4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37160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2011680" cy="548640"/>
          </a:xfrm>
          <a:prstGeom prst="rect">
            <a:avLst/>
          </a:prstGeom>
          <a:solidFill>
            <a:srgbClr val="1F2A4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37160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Alerte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371600"/>
            <a:ext cx="2011680" cy="548640"/>
          </a:xfrm>
          <a:prstGeom prst="rect">
            <a:avLst/>
          </a:prstGeom>
          <a:solidFill>
            <a:srgbClr val="1F2A4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68512" y="137160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411480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1920240"/>
            <a:ext cx="3968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Latence 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92024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192024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&lt; 50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92024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2" y="192024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&gt; 150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92024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192024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&gt; 300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6888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468880"/>
            <a:ext cx="3968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Connexions actives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46888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246888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&lt; 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46888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246888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&gt; 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46888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68512" y="246888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&gt; 150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017520"/>
            <a:ext cx="411480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017520"/>
            <a:ext cx="3968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Réplication (retard)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01752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45152" y="301752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0–5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01752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56832" y="301752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&gt; 15 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301752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68512" y="301752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&gt; 30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6616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3566160"/>
            <a:ext cx="3968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Espace disque libre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56616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45152" y="356616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&gt; 20 %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56616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56832" y="356616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&lt; 15 %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566160"/>
            <a:ext cx="20116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68512" y="356616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&lt; 10 %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114800"/>
            <a:ext cx="411480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4114800"/>
            <a:ext cx="39684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933"/>
                </a:solidFill>
                <a:latin typeface="Calibri"/>
              </a:rPr>
              <a:t>Succès sauvegardes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411480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45152" y="411480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100 %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411480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56832" y="411480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1 échec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4114800"/>
            <a:ext cx="2011680" cy="5486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68512" y="4114800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&gt; 1 échec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92040"/>
            <a:ext cx="11247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32933"/>
                </a:solidFill>
                <a:latin typeface="Calibri"/>
              </a:rPr>
              <a:t>Stack : Prometheus + Grafana · mysqld_exporter + node_exporter · Slow Query Log activé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Au-delà de 30 s de retard de réplication, le RPO 15 min peut être compromis → alerte critique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Dashboard Grafana : santé BDD + infra + statut sauvegardes ; alerting sur seuils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Ojvind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Exploitation — RunBook &amp; analyse de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6 · 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RunBook d'exploitation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Procédures Start/Stop, health checks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Checklists quotidienne &amp; hebdomadaire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Gestion incidents : MariaDB down, réplication cassée, perte BDD1, corruption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Matrice d'escalade N1→N4 (15 min → 2 h)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KPI : latence, retard réplication, sauvegardes, disque, erreurs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Analyse de logs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5 sources : error.log, slow.log, binlogs, HAProxy, sauvegardes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Patterns critiques cartographiés :</a:t>
            </a: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InnoDB corruption · Slave_IO=No · Too many connections · Backend DOWN · Backup failed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Chaque pattern → gravité + action associée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Complète supervision, runbook et 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Zaid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Difficulté majeure — le pivot de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7 · Difficultés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18288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87A17"/>
                </a:solidFill>
                <a:latin typeface="Calibri"/>
              </a:rPr>
              <a:t>Le problème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Sujet ambigu : « PME de logistique » + « séparation des données par client »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→ se lit grossiste (stock propre) OU 3PL (stock des clients)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5669280" cy="18288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03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E6BB8"/>
                </a:solidFill>
                <a:latin typeface="Calibri"/>
              </a:rPr>
              <a:t>La solution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32933"/>
                </a:solidFill>
                <a:latin typeface="Calibri"/>
              </a:rPr>
              <a:t>Postulat EXPLICITE : NTL = grossiste (ADR 0003, 22/05)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Séparation client par ATTRIBUTION (mouvement.id_client + commande), pas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1247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Conséquences assumées du pivot (décisions D02/D03/D04 superseded → modèle V2)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32933"/>
                </a:solidFill>
                <a:latin typeface="Calibri"/>
              </a:rPr>
              <a:t>Multi-tenant (FK composite) retiré → reporté V2 si bascule 3PL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32933"/>
                </a:solidFill>
                <a:latin typeface="Calibri"/>
              </a:rPr>
              <a:t>Triggers supprimés (le bug MariaDB CHECK ne s'applique plus) → 0 trigger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32933"/>
                </a:solidFill>
                <a:latin typeface="Calibri"/>
              </a:rPr>
              <a:t>FOURNISSEUR dé-entifié (attribut texte) + table commande ajoutée → 8 tables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87A17"/>
                </a:solidFill>
                <a:latin typeface="Calibri"/>
              </a:rPr>
              <a:t>Message clé : « on a tranché une ambiguïté par un postulat assumé » — JAMAIS « on n'a pas compris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Ianis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Résultats &amp; perspectives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87A17"/>
                </a:solidFill>
                <a:latin typeface="Calibri"/>
              </a:rPr>
              <a:t>8 ·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Résultats obtenus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Modèle WMS cohérent : 8 tables, 3NF, 0 trigger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Architecture HA/PRA tenant RTO 1 h / RPO 15 min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Supervision (5 indicateurs), runbook, analyse logs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6 décisions majeures tracées (ADR)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Note CODIR : risques cyber + plan P1/P2/P3</a:t>
            </a:r>
          </a:p>
          <a:p>
            <a:pPr lvl="1" algn="l">
              <a:spcAft>
                <a:spcPts val="70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Tests de perf : latence &lt; 50 ms, retard répli &lt; 5 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394960" cy="42062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BB8"/>
                </a:solidFill>
                <a:latin typeface="Calibri"/>
              </a:rPr>
              <a:t>Perspectives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32933"/>
                </a:solidFill>
                <a:latin typeface="Calibri"/>
              </a:rPr>
              <a:t>Exécuter &amp; tester le DDL sur MariaDB 11.4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32933"/>
                </a:solidFill>
                <a:latin typeface="Calibri"/>
              </a:rPr>
              <a:t>Multi-tenant (isolation) si bascule 3PL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32933"/>
                </a:solidFill>
                <a:latin typeface="Calibri"/>
              </a:rPr>
              <a:t>Lots / DLC / FEFO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32933"/>
                </a:solidFill>
                <a:latin typeface="Calibri"/>
              </a:rPr>
              <a:t>Expéditions &amp; transporteurs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32933"/>
                </a:solidFill>
                <a:latin typeface="Calibri"/>
              </a:rPr>
              <a:t>Gestion fournisseurs (entité dédiée)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32933"/>
                </a:solidFill>
                <a:latin typeface="Calibri"/>
              </a:rPr>
              <a:t>Cluster Galera (HA synchrone)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MSPR3 — NTL WMS-DB · EPSI Nantes ASRBD 2025-2026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2E6BB8"/>
                </a:solidFill>
                <a:latin typeface="Calibri"/>
              </a:rPr>
              <a:t>🎤 Blaise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E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Une base WMS conçue pour le cœur métier de NTL, industrialisée pour l'exploitation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Contraintes RTO 1 h / RPO 15 min tenues par l'architecture HA/PRA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Une démarche d'itération maîtrisée et tracée (pivot grossiste assumé)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Un périmètre V1 resserré, des perspectives V2 claires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87A17"/>
                </a:solidFill>
                <a:latin typeface="Calibri"/>
              </a:rPr>
              <a:t>Merci — place à vos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2172</Words>
  <Application>Microsoft Office PowerPoint</Application>
  <PresentationFormat>Grand écran</PresentationFormat>
  <Paragraphs>249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Ianis Puichaud</cp:lastModifiedBy>
  <cp:revision>2</cp:revision>
  <dcterms:created xsi:type="dcterms:W3CDTF">2013-01-27T09:14:16Z</dcterms:created>
  <dcterms:modified xsi:type="dcterms:W3CDTF">2026-07-01T13:25:36Z</dcterms:modified>
  <cp:category/>
</cp:coreProperties>
</file>