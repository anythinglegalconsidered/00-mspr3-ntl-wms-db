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Orateur : Ianis (~0:30). Accroche : le WMS est le coeur de NTL, on a industrialise sa base. Presenter l'equipe et le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Orateur : Ianis (~1:30). Poser vite le vocabulaire (WMS, cross-dock). Marteler la criticite : 4 sites a l'arret. C'est le 'pourquoi'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Orateur : Ianis (~1:30). Montrer une demarche maitrisee, pas du tatonnement. Teaser la difficulte sans la developper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Orateurs : Blaise + Ianis (~2:00). Montrer le diagramme MCD. STOCK = article x emplacement x quantite. id_client nullable (interne = NULL). 4 types de mouvement (CHECK), quantite &gt; 0. Punch : integrite garantie par le schema, pas par du code fragile.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Orateur : Blaise (~1:00). Relier chaque index a un usage reel. Montrer qu'on a pense les acces avant d'indexer.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Orateur : Ojvind (~1:00). Ne JAMAIS dire 'MariaDB est superieur'. L'argument est contextuel : continuite avec l'existant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Orateur : Ojvind (~1:30). Deux niveaux de secours : local (HA) et distant (PRA). Async choisi pour la simplicite ; Galera synchrone =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Orateur : Zaid (~2:00). Insister : RTO/RPO tenus AVEC marge. Les scripts existent (annexe). Restauration testee = differenciateur.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Orateur : Zaid (~1:00). Le principe de moindre privilege est explicite dans le sujet ET la grille. Montrer la separation app / dba.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Orateur : Zaid (~1:30). Registre non technique = competence 'adhesion decideurs cybercriminalite'. Parler impact business, priorisation.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Orateur : Ojvind (~1:30). Ne pas reciter les seuils : relier chacun a un objectif metier (RPO, disponibilite). C'est ce qui distingue.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Orateur : Zaid (~1:30). RunBook = exploitabilite au quotidien. Logs : pas juste lister, montrer patterns + correlation.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Orateur : Ianis (~1:30). MOMENT CLE. 'On a tranche une ambiguite par un postulat assume', JAMAIS 'on n'a pas compris'. Anticiper le piege isolation/multi-tenant. Rester calme, renvoyer a l'ADR 0003.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Orateur : Blaise (~1:30). Cadrer la V1 comme un MVP, pas un brouillon. Les perspectives montrent qu'on maitrise le perimetre.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Toute l'equipe. Phrase finale = le fil rouge. Enchainer sur l'entretien : garder les annexes pretes.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Annexe entretien. Montre l'integrite reelle : UNIQUE, CHECK, FK RESTRICT, InnoDB, utf8mb4. Le DDL complet couvre les 8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Annexe entretien. Justifie les 4 types de mouvement (CHECK) et le id_client nullable issu de CONCERNE (0,1 - 0,N).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Annexe entretien. Repond a l'exigence explicite : complete, incrementale/transactionnelle, rotation, verification, notification.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Annexe entretien. Le registre complet compte 9 risques ; extrait des 6 principaux ici. Chaque risque a un impact et une mitigation.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Annexe. Repond a l'exigence de documentation technique en francais ET en anglais (competence de la grille).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128016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NordTransit Logistics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0" i="0">
                <a:solidFill>
                  <a:srgbClr val="9FB3C8"/>
                </a:solidFill>
                <a:latin typeface="Calibri"/>
              </a:rPr>
              <a:t>Industrialisation de la base de données WMS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MSPR3 — EPSI Nantes · Blocs E6.3 / E6.4 · 2025-2026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ED6CC"/>
                </a:solidFill>
                <a:latin typeface="Calibri"/>
              </a:rPr>
              <a:t>Ianis Puichaud · Blaise Carel · Ojvind · Zaid Abouyaala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solidFill>
            <a:srgbClr val="2A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5458968"/>
            <a:ext cx="10104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ED6CC"/>
                </a:solidFill>
                <a:latin typeface="Calibri"/>
              </a:rPr>
              <a:t>EN — </a:t>
            </a:r>
            <a:r>
              <a:rPr sz="1100" b="0" i="1">
                <a:solidFill>
                  <a:srgbClr val="D5DEEA"/>
                </a:solidFill>
                <a:latin typeface="Calibri"/>
              </a:rPr>
              <a:t>Design &amp; industrialization of NTL's WMS relational database: data model, high availability, disaster recovery (RTO 1h / RPO 15min), access security and monitoring.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Contexte &amp; enjeu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10948111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PME logistique Hauts-de-France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siège Lille + 3 entrepôts (Lens, Valenciennes, Arras) + cross-dock saisonnier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WMS = cœur métier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sa panne bloque réception &amp; expédition sur les 4 sites (5h30–18h30)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Contraintes fortes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maintenance nocturne uniquement · équipe IT réduite · liens 200 Mb/s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Existant recensé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WMS-DB MySQL / Ubuntu 20.04 · NAS RAID5 · sauvegardes sans test ni RTO/RPO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Enjeu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aujourd'hui, une panne = 4 sites à l'arrêt, sans garantie de reprise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Démarche &amp; pilotage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10948111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Équipe 4 pers · 19 h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Ianis + Blaise (données) · Ojvind + Zaid (infra &amp; exploitation)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Méthode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cadrage → conception → industrialisation → documentation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Décisions tracées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6 ADR (le sujet en exige ≥ 3)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Pilotage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planning + jalons + suivi de tâches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Maîtrise des risques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registre de 9 risques (impacts + mesures de mitigation)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Difficulté (à suivre)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sujet ambigu → on a tranché par un postulat assumé — détail en fin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Modèle Conceptuel de Données (MCD)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Point 1 — 7 entités · 8 associations → 8 tables au MLD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1426464"/>
            <a:ext cx="7013448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ms-m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6903720" cy="46759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89520" y="1481328"/>
            <a:ext cx="4053535" cy="47365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682496"/>
            <a:ext cx="3651199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Points clés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E2952"/>
                </a:solidFill>
                <a:latin typeface="Calibri"/>
              </a:rPr>
              <a:t>7 entités · 8 associations </a:t>
            </a:r>
            <a:r>
              <a:rPr sz="1250" b="0" i="0">
                <a:solidFill>
                  <a:srgbClr val="334155"/>
                </a:solidFill>
                <a:latin typeface="Calibri"/>
              </a:rPr>
              <a:t>→ 8 tables au MLD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E2952"/>
                </a:solidFill>
                <a:latin typeface="Calibri"/>
              </a:rPr>
              <a:t>STOCK </a:t>
            </a:r>
            <a:r>
              <a:rPr sz="1250" b="0" i="0">
                <a:solidFill>
                  <a:srgbClr val="334155"/>
                </a:solidFill>
                <a:latin typeface="Calibri"/>
              </a:rPr>
              <a:t>= article × emplacement × quantité (UNIQUE)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E2952"/>
                </a:solidFill>
                <a:latin typeface="Calibri"/>
              </a:rPr>
              <a:t>mouvement.id_client nullable </a:t>
            </a:r>
            <a:r>
              <a:rPr sz="1250" b="0" i="0">
                <a:solidFill>
                  <a:srgbClr val="334155"/>
                </a:solidFill>
                <a:latin typeface="Calibri"/>
              </a:rPr>
              <a:t>transfert interne = NULL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E2952"/>
                </a:solidFill>
                <a:latin typeface="Calibri"/>
              </a:rPr>
              <a:t>Intégrité par le schéma </a:t>
            </a:r>
            <a:r>
              <a:rPr sz="1250" b="0" i="0">
                <a:solidFill>
                  <a:srgbClr val="334155"/>
                </a:solidFill>
                <a:latin typeface="Calibri"/>
              </a:rPr>
              <a:t>FK · CHECK · UNIQUE · RESTRICT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1E2952"/>
                </a:solidFill>
                <a:latin typeface="Calibri"/>
              </a:rPr>
              <a:t>3NF · 0 trigger </a:t>
            </a:r>
            <a:r>
              <a:rPr sz="1250" b="0" i="0">
                <a:solidFill>
                  <a:srgbClr val="334155"/>
                </a:solidFill>
                <a:latin typeface="Calibri"/>
              </a:rPr>
              <a:t>clés INT UNSIGNED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Optimisation &amp;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10948111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Démarche orientée usages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requêtes les plus fréquentes identifiées → index ciblés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Requêtes types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stock par site / article · mouvements par période · recherche SKU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Index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PK / FK + index composites (id_site, id_article) et (date_mouvement)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Choix physiques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INT UNSIGNED (FK légères) · InnoDB (ACID + FK) · utf8mb4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Choix du SGBD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10948111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MariaDB 11.4 LTS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support jusqu'en 2029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Argument n° 1 : drop-in de MySQL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migration du WMS quasi nulle, équipe IT non reformée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vs PostgreSQL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réécriture du WMS-APP (driver, dialecte, types) + équipe sans compétence PG → écarté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Positionnement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« meilleur compromis dans CE contexte », pas « MariaDB est mieux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Architecture Haute Disponibilité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WMS-APP → HAProxy → Master, réplication vers 2 réplicas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1874519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880360"/>
            <a:ext cx="172821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52"/>
                </a:solidFill>
                <a:latin typeface="Calibri"/>
              </a:rPr>
              <a:t>WMS-APP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880360"/>
            <a:ext cx="178308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2880360"/>
            <a:ext cx="16367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52"/>
                </a:solidFill>
                <a:latin typeface="Calibri"/>
              </a:rPr>
              <a:t>HAProxy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Répartiteur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880360"/>
            <a:ext cx="2148840" cy="960120"/>
          </a:xfrm>
          <a:prstGeom prst="roundRect">
            <a:avLst/>
          </a:prstGeom>
          <a:solidFill>
            <a:srgbClr val="1E2952"/>
          </a:solidFill>
          <a:ln w="19050">
            <a:solidFill>
              <a:srgbClr val="1E29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2880360"/>
            <a:ext cx="200253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BDD1 — Master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écritures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600200"/>
            <a:ext cx="292608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1600200"/>
            <a:ext cx="27797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52"/>
                </a:solidFill>
                <a:latin typeface="Calibri"/>
              </a:rPr>
              <a:t>BDD2 — Slave HA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réplica local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160520"/>
            <a:ext cx="292608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4160520"/>
            <a:ext cx="277977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E2952"/>
                </a:solidFill>
                <a:latin typeface="Calibri"/>
              </a:rPr>
              <a:t>BDD3 — Slave PRA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réplica distant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51760" y="3360420"/>
            <a:ext cx="365760" cy="0"/>
          </a:xfrm>
          <a:prstGeom prst="line">
            <a:avLst/>
          </a:prstGeom>
          <a:ln w="22225">
            <a:solidFill>
              <a:srgbClr val="3341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00600" y="3360420"/>
            <a:ext cx="320040" cy="0"/>
          </a:xfrm>
          <a:prstGeom prst="line">
            <a:avLst/>
          </a:prstGeom>
          <a:ln w="22225">
            <a:solidFill>
              <a:srgbClr val="3341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269480" y="2080260"/>
            <a:ext cx="1097280" cy="1074420"/>
          </a:xfrm>
          <a:prstGeom prst="line">
            <a:avLst/>
          </a:prstGeom>
          <a:ln w="22225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69480" y="3566160"/>
            <a:ext cx="1097280" cy="1074420"/>
          </a:xfrm>
          <a:prstGeom prst="line">
            <a:avLst/>
          </a:prstGeom>
          <a:ln w="22225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03720" y="21488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0D9488"/>
                </a:solidFill>
                <a:latin typeface="Calibri"/>
              </a:rPr>
              <a:t>réplication async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160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0D9488"/>
                </a:solidFill>
                <a:latin typeface="Calibri"/>
              </a:rPr>
              <a:t>réplication async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952"/>
                </a:solidFill>
                <a:latin typeface="Calibri"/>
              </a:rPr>
              <a:t>Réplication asynchrone + binlogs</a:t>
            </a:r>
            <a:r>
              <a:rPr sz="1250" b="0" i="0">
                <a:solidFill>
                  <a:srgbClr val="334155"/>
                </a:solidFill>
                <a:latin typeface="Calibri"/>
              </a:rPr>
              <a:t>  — faible impact sur le master, adaptée à une équipe IT réduite.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BDD2 couvre une panne service / VM locale · BDD3 couvre la perte du site de Lille.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PRA, sauvegardes &amp; restauration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Points 2 &amp; 3 — scripts détaillés en annexe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81328"/>
            <a:ext cx="10948111" cy="4828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RTO tenus (cible 1 h)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panne service 5–10 min · perte VM 5–10 min · perte site 20–40 min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RPO 15 min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garanti par les binlogs (PITR)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Sauvegardes automatisées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complète quotidienne (mariabackup) · transactionnel (binlogs) · rotation / rétention · vérification · notification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Tests planifiés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bascule HA trimestrielle · PRA semestrielle · restauration mensuelle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Principe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une sauvegarde non testée n'est pas une sauvegarde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Sécurité des accès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Point 4 du cahier des charges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81328"/>
            <a:ext cx="10948111" cy="4828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Moindre privilège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compte app_wms (CRUD tables métier) ≠ compte dba (ALL + admin)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Pas de root applicatif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l'application n'utilise jamais un compte privilégié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Renforcement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MFA sur les accès admin · secrets en coffre (jamais en clair)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Traçabilité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comptes nominatifs pour l'audit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Note Comité de direction — risques cyber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Point 3 — favoriser l'adhésion des décideurs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81328"/>
            <a:ext cx="10948111" cy="4828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5 risques majeurs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arrêt prolongé · vol d'accès · ransomware + backups KO · exfiltration données clients · perte de traçabilité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Langage direction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impact métier, pas de jargon technique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Plan priorisé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P1 immédiat (6 sem.) · P2 (3 mois) · P3 (6 mois)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Conformité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RGPD : notification d'une fuite sous 72 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Supervision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Point 5 — tableau de bord à 5 indicateurs critiques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81328"/>
            <a:ext cx="10948111" cy="4828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Stack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Prometheus + Grafana · mysqld_exporter + node_exporter · slow query log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5 indicateurs + seuils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latence SQL · connexions actives · retard de réplication · disque libre · succès sauvegardes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Seuils reliés à un objectif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réplication &gt; 30 s → RPO menacé · disque &lt; 10 % → arrêt MariaDB possible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Procédure d'analyse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définie pour chaque alerte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Exploitation — RunBook &amp; analyse de logs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Points 2 &amp; 6 du cahier des charges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81328"/>
            <a:ext cx="10948111" cy="4828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RunBook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start / stop + health checks · checklists jour / semaine · procédure incident (détection → diagnostic → correction → normal)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Escalade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matrice N1 → N4 (15 min → 2 h) + KPIs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Logs — 5 sources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error.log · slow.log · binlogs · HAProxy · sauvegardes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Méthode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patterns critiques cartographiés + corrélation entre sources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Difficultés rencontrées →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4748B"/>
                </a:solidFill>
                <a:latin typeface="Calibri"/>
              </a:rPr>
              <a:t>Le fil rouge de la soutenance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81328"/>
            <a:ext cx="10948111" cy="4828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Difficulté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sujet ambigu : « PME logistique » + « séparation par client » = grossiste OU 3PL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Solution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postulat explicite grossiste (ADR 0003) — itération maîtrisée, pas tâtonnement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Conséquences assumées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multi-tenant reporté V2 · 0 trigger · fournisseur en attribut → 8 tables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Honnêteté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le DDL n'est pas encore exécuté → assumé, c'est notre 1re perspective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Question attendue du jury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« où est l'isolation par client ? » → attribution (grossiste) vs isolation (3PL, V2)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Résultats &amp; perspectives V2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10948111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Livré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8 livrables couvrant tout le cahier des charges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Chiffres-clés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8 tables 3NF · archi RTO 1h / RPO 15min · 3 serveurs · 5 indicateurs · 6 ADR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Limites = arbitrages tracés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chaque limite renvoie à un ADR, jamais un oubli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Perspectives V2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exécution du DDL (prio 1) · multi-tenant si 3PL · lots / FEFO · expéditions · Galera synchrone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28016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Une base WMS conçue, sécurisée,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supervisée et résiliente.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FB3C8"/>
                </a:solidFill>
                <a:latin typeface="Calibri"/>
              </a:rPr>
              <a:t>MVP industrialisable — RTO 1h / RPO 15min tenus.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6ED6CC"/>
                </a:solidFill>
                <a:latin typeface="Calibri"/>
              </a:rPr>
              <a:t>« On a tranché une ambiguïté par un postulat assumé.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Merci — questions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Annexe — DDL (extrait : table STOCK)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A1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094415" cy="4800600"/>
          </a:xfrm>
          <a:prstGeom prst="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72768"/>
            <a:ext cx="10582351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6ED6CC"/>
                </a:solidFill>
                <a:latin typeface="Consolas"/>
              </a:rPr>
              <a:t>-- STOCK : 1 article x 1 emplacement x 1 quantite (entite reifiee)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D5DEEA"/>
                </a:solidFill>
                <a:latin typeface="Consolas"/>
              </a:rPr>
              <a:t>CREATE TABLE stock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D5DEEA"/>
                </a:solidFill>
                <a:latin typeface="Consolas"/>
              </a:rPr>
              <a:t>  id_stock        INT UNSIGNED PRIMARY KEY AUTO_INCREMENT,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D5DEEA"/>
                </a:solidFill>
                <a:latin typeface="Consolas"/>
              </a:rPr>
              <a:t>  id_article      INT UNSIGNED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D5DEEA"/>
                </a:solidFill>
                <a:latin typeface="Consolas"/>
              </a:rPr>
              <a:t>  id_localisation INT UNSIGNED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D5DEEA"/>
                </a:solidFill>
                <a:latin typeface="Consolas"/>
              </a:rPr>
              <a:t>  quantite       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D5DEEA"/>
                </a:solidFill>
                <a:latin typeface="Consolas"/>
              </a:rPr>
              <a:t>  CONSTRAINT uq_stock UNIQUE (id_article, id_localisation),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D5DEEA"/>
                </a:solidFill>
                <a:latin typeface="Consolas"/>
              </a:rPr>
              <a:t>  CONSTRAINT ck_qte   CHECK  (quantite &gt;= 0),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D5DEEA"/>
                </a:solidFill>
                <a:latin typeface="Consolas"/>
              </a:rPr>
              <a:t>  CONSTRAINT fk_stock_article  FOREIGN KEY (id_article)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D5DEEA"/>
                </a:solidFill>
                <a:latin typeface="Consolas"/>
              </a:rPr>
              <a:t>      REFERENCES article(id_article)          ON DELETE RESTRICT,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D5DEEA"/>
                </a:solidFill>
                <a:latin typeface="Consolas"/>
              </a:rPr>
              <a:t>  CONSTRAINT fk_stock_loc      FOREIGN KEY (id_localisation)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D5DEEA"/>
                </a:solidFill>
                <a:latin typeface="Consolas"/>
              </a:rPr>
              <a:t>      REFERENCES localisation(id_localisation) ON DELETE RESTRICT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D5DEEA"/>
                </a:solidFill>
                <a:latin typeface="Consolas"/>
              </a:rPr>
              <a:t>) ENGINE=InnoDB DEFAULT CHARSET=utf8mb4;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Annexe — MCD (entités &amp; cardinalités)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10948111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SITE (1,N) — (1,1) LOCALISATION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un site contient N localisations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ARTICLE / LOCALISATION → STOCK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stock = réification article × emplacement (UNIQUE)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STOCK (1,N) — (1,1) MOUVEMENT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un mouvement porte sur un stock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CLIENT (0,N) — (0,1) MOUVEMENT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sortie client renseignée · mouvement interne = NULL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CLIENT (0,N) — (0,N) ARTICLE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→ table associative commande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UTILISATEUR (1,N) — (1,1) MOUVEMENT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traçabilité de l'auteur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Annexe — Scripts de sauvegarde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A3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10948111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Complète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mariabackup quotidien 02h00 → NAS + copie externalisée (règle 3-2-1)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Transactionnel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archivage des binlogs toutes les ~15 min (RPO)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Rotation / rétention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complètes conservées · binlogs 48 h · purge automatique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Vérification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restauration test mensuelle + contrôle checksum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Notification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mail / webhook succès ou échec → supervision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E2952"/>
                </a:solidFill>
                <a:latin typeface="Calibri"/>
              </a:rPr>
              <a:t>Orchestration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  cron + script idempotent journalisé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Annexe — Registre des risques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A4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4413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5877"/>
                <a:gridCol w="1775106"/>
                <a:gridCol w="510343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Risque</a:t>
                      </a:r>
                    </a:p>
                  </a:txBody>
                  <a:tcPr marL="91440" marR="91440" marT="27432" marB="27432" anchor="ctr">
                    <a:solidFill>
                      <a:srgbClr val="1E29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Gravité</a:t>
                      </a:r>
                    </a:p>
                  </a:txBody>
                  <a:tcPr marL="91440" marR="91440" marT="27432" marB="27432" anchor="ctr">
                    <a:solidFill>
                      <a:srgbClr val="1E29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91440" marR="91440" marT="27432" marB="27432" anchor="ctr">
                    <a:solidFill>
                      <a:srgbClr val="1E295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Arrêt prolongé de la base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HA + PRA testés, RTO 1h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Vol d'un accès applicatif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Moindre privilège + MFA + rotation secrets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Ransomware + backups inutilisables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3-2-1 + copies immuables + tests restauration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Exfiltration des données clients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Cloisonnement + audit log + RGPD 72h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Perte de traçabilité réglementaire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Audit log inviolable 12 mois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Réplication rompue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Supervision du retard de réplication + alerte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E2952"/>
                </a:solidFill>
                <a:latin typeface="Calibri"/>
              </a:rPr>
              <a:t>Annexe — Glossaire FR / 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96012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MSPR3 · NordTransit Logistics — WMS-DB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A5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4414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7"/>
              </a:tblGrid>
              <a:tr h="5080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Français</a:t>
                      </a:r>
                    </a:p>
                  </a:txBody>
                  <a:tcPr marL="91440" marR="91440" marT="27432" marB="27432" anchor="ctr">
                    <a:solidFill>
                      <a:srgbClr val="1E295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English</a:t>
                      </a:r>
                    </a:p>
                  </a:txBody>
                  <a:tcPr marL="91440" marR="91440" marT="27432" marB="27432" anchor="ctr">
                    <a:solidFill>
                      <a:srgbClr val="1E2952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Gestion d'entrepôt (WMS)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Warehouse Management System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Haute disponibilité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High Availability (HA)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Plan de reprise d'activité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Disaster Recovery Plan (DRP)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Sauvegarde / restauration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Backup / Restore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Objectifs de reprise / de perte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RTO / RPO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Moindre privilège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Least privilege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Réplication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Replication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Journaux (logs)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334155"/>
                          </a:solidFill>
                          <a:latin typeface="Calibri"/>
                        </a:rPr>
                        <a:t>Logs</a:t>
                      </a:r>
                    </a:p>
                  </a:txBody>
                  <a:tcPr marL="91440" marR="91440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